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6" r:id="rId18"/>
    <p:sldId id="277" r:id="rId19"/>
    <p:sldId id="278" r:id="rId20"/>
    <p:sldId id="271" r:id="rId21"/>
    <p:sldId id="272" r:id="rId22"/>
    <p:sldId id="273" r:id="rId23"/>
    <p:sldId id="274"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29" y="4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ebc2a64f9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bebc2a64f9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bebc2a64f9_5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bebc2a64f9_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bebc2a64f9_5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bebc2a64f9_5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bebc2a64f9_5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bebc2a64f9_5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2"/>
          <p:cNvGrpSpPr/>
          <p:nvPr/>
        </p:nvGrpSpPr>
        <p:grpSpPr>
          <a:xfrm>
            <a:off x="0" y="-8467"/>
            <a:ext cx="12192000" cy="6866467"/>
            <a:chOff x="0" y="-8467"/>
            <a:chExt cx="12192000" cy="6866467"/>
          </a:xfrm>
        </p:grpSpPr>
        <p:cxnSp>
          <p:nvCxnSpPr>
            <p:cNvPr id="24" name="Google Shape;24;p2"/>
            <p:cNvCxnSpPr/>
            <p:nvPr/>
          </p:nvCxnSpPr>
          <p:spPr>
            <a:xfrm>
              <a:off x="9371012" y="0"/>
              <a:ext cx="1219200" cy="6858000"/>
            </a:xfrm>
            <a:prstGeom prst="straightConnector1">
              <a:avLst/>
            </a:prstGeom>
            <a:noFill/>
            <a:ln w="9525" cap="flat" cmpd="sng">
              <a:solidFill>
                <a:srgbClr val="262626"/>
              </a:solidFill>
              <a:prstDash val="solid"/>
              <a:round/>
              <a:headEnd type="none" w="sm" len="sm"/>
              <a:tailEnd type="none" w="sm" len="sm"/>
            </a:ln>
          </p:spPr>
        </p:cxnSp>
        <p:cxnSp>
          <p:nvCxnSpPr>
            <p:cNvPr id="25" name="Google Shape;25;p2"/>
            <p:cNvCxnSpPr/>
            <p:nvPr/>
          </p:nvCxnSpPr>
          <p:spPr>
            <a:xfrm flipH="1">
              <a:off x="7425267" y="3681413"/>
              <a:ext cx="4763558" cy="3176587"/>
            </a:xfrm>
            <a:prstGeom prst="straightConnector1">
              <a:avLst/>
            </a:prstGeom>
            <a:noFill/>
            <a:ln w="9525" cap="flat" cmpd="sng">
              <a:solidFill>
                <a:srgbClr val="262626"/>
              </a:solidFill>
              <a:prstDash val="solid"/>
              <a:round/>
              <a:headEnd type="none" w="sm" len="sm"/>
              <a:tailEnd type="none" w="sm" len="sm"/>
            </a:ln>
          </p:spPr>
        </p:cxnSp>
        <p:sp>
          <p:nvSpPr>
            <p:cNvPr id="26" name="Google Shape;26;p2"/>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27" name="Google Shape;27;p2"/>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2"/>
            <p:cNvSpPr/>
            <p:nvPr/>
          </p:nvSpPr>
          <p:spPr>
            <a:xfrm>
              <a:off x="8932333" y="3048000"/>
              <a:ext cx="3259667" cy="3810000"/>
            </a:xfrm>
            <a:prstGeom prst="triangle">
              <a:avLst>
                <a:gd name="adj" fmla="val 100000"/>
              </a:avLst>
            </a:prstGeom>
            <a:solidFill>
              <a:schemeClr val="accent2">
                <a:alpha val="72156"/>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0" name="Google Shape;30;p2"/>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1" name="Google Shape;31;p2"/>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32" name="Google Shape;32;p2"/>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0" y="0"/>
              <a:ext cx="842596" cy="5666154"/>
            </a:xfrm>
            <a:prstGeom prst="triangle">
              <a:avLst>
                <a:gd name="adj" fmla="val 100000"/>
              </a:avLst>
            </a:prstGeom>
            <a:solidFill>
              <a:schemeClr val="accent1">
                <a:alpha val="85098"/>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FEFEFE"/>
                </a:solidFill>
              </a:defRPr>
            </a:lvl1pPr>
            <a:lvl2pPr lvl="1" algn="ctr">
              <a:spcBef>
                <a:spcPts val="1000"/>
              </a:spcBef>
              <a:spcAft>
                <a:spcPts val="0"/>
              </a:spcAft>
              <a:buSzPts val="1280"/>
              <a:buNone/>
              <a:defRPr>
                <a:solidFill>
                  <a:schemeClr val="lt1"/>
                </a:solidFill>
              </a:defRPr>
            </a:lvl2pPr>
            <a:lvl3pPr lvl="2" algn="ctr">
              <a:spcBef>
                <a:spcPts val="1000"/>
              </a:spcBef>
              <a:spcAft>
                <a:spcPts val="0"/>
              </a:spcAft>
              <a:buSzPts val="1120"/>
              <a:buNone/>
              <a:defRPr>
                <a:solidFill>
                  <a:schemeClr val="lt1"/>
                </a:solidFill>
              </a:defRPr>
            </a:lvl3pPr>
            <a:lvl4pPr lvl="3" algn="ctr">
              <a:spcBef>
                <a:spcPts val="1000"/>
              </a:spcBef>
              <a:spcAft>
                <a:spcPts val="0"/>
              </a:spcAft>
              <a:buSzPts val="960"/>
              <a:buNone/>
              <a:defRPr>
                <a:solidFill>
                  <a:schemeClr val="lt1"/>
                </a:solidFill>
              </a:defRPr>
            </a:lvl4pPr>
            <a:lvl5pPr lvl="4" algn="ctr">
              <a:spcBef>
                <a:spcPts val="1000"/>
              </a:spcBef>
              <a:spcAft>
                <a:spcPts val="0"/>
              </a:spcAft>
              <a:buSzPts val="960"/>
              <a:buNone/>
              <a:defRPr>
                <a:solidFill>
                  <a:schemeClr val="lt1"/>
                </a:solidFill>
              </a:defRPr>
            </a:lvl5pPr>
            <a:lvl6pPr lvl="5" algn="ctr">
              <a:spcBef>
                <a:spcPts val="1000"/>
              </a:spcBef>
              <a:spcAft>
                <a:spcPts val="0"/>
              </a:spcAft>
              <a:buSzPts val="960"/>
              <a:buNone/>
              <a:defRPr>
                <a:solidFill>
                  <a:schemeClr val="lt1"/>
                </a:solidFill>
              </a:defRPr>
            </a:lvl6pPr>
            <a:lvl7pPr lvl="6" algn="ctr">
              <a:spcBef>
                <a:spcPts val="1000"/>
              </a:spcBef>
              <a:spcAft>
                <a:spcPts val="0"/>
              </a:spcAft>
              <a:buSzPts val="960"/>
              <a:buNone/>
              <a:defRPr>
                <a:solidFill>
                  <a:schemeClr val="lt1"/>
                </a:solidFill>
              </a:defRPr>
            </a:lvl7pPr>
            <a:lvl8pPr lvl="7" algn="ctr">
              <a:spcBef>
                <a:spcPts val="1000"/>
              </a:spcBef>
              <a:spcAft>
                <a:spcPts val="0"/>
              </a:spcAft>
              <a:buSzPts val="960"/>
              <a:buNone/>
              <a:defRPr>
                <a:solidFill>
                  <a:schemeClr val="lt1"/>
                </a:solidFill>
              </a:defRPr>
            </a:lvl8pPr>
            <a:lvl9pPr lvl="8" algn="ctr">
              <a:spcBef>
                <a:spcPts val="1000"/>
              </a:spcBef>
              <a:spcAft>
                <a:spcPts val="0"/>
              </a:spcAft>
              <a:buSzPts val="960"/>
              <a:buNone/>
              <a:defRPr>
                <a:solidFill>
                  <a:schemeClr val="lt1"/>
                </a:solidFill>
              </a:defRPr>
            </a:lvl9pPr>
          </a:lstStyle>
          <a:p>
            <a:endParaRPr/>
          </a:p>
        </p:txBody>
      </p:sp>
      <p:sp>
        <p:nvSpPr>
          <p:cNvPr id="36" name="Google Shape;36;p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4"/>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FEFEFE"/>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48" name="Google Shape;48;p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5"/>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6"/>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6"/>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6"/>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9"/>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0"/>
          <p:cNvSpPr>
            <a:spLocks noGrp="1"/>
          </p:cNvSpPr>
          <p:nvPr>
            <p:ph type="pic" idx="2"/>
          </p:nvPr>
        </p:nvSpPr>
        <p:spPr>
          <a:xfrm>
            <a:off x="677334" y="609600"/>
            <a:ext cx="8596668" cy="3845718"/>
          </a:xfrm>
          <a:prstGeom prst="rect">
            <a:avLst/>
          </a:prstGeom>
          <a:noFill/>
          <a:ln>
            <a:noFill/>
          </a:ln>
        </p:spPr>
      </p:sp>
      <p:sp>
        <p:nvSpPr>
          <p:cNvPr id="86" name="Google Shape;86;p10"/>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11"/>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FEFEFE"/>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93" name="Google Shape;93;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12"/>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FEFEFE"/>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2"/>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FEFEFE"/>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100" name="Google Shape;100;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12"/>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
        <p:nvSpPr>
          <p:cNvPr id="104" name="Google Shape;104;p12"/>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3"/>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FEFEFE"/>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108" name="Google Shape;108;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4"/>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FEFEFE"/>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14"/>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FEFEFE"/>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115" name="Google Shape;115;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1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
        <p:nvSpPr>
          <p:cNvPr id="119" name="Google Shape;119;p1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15"/>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5"/>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15"/>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FEFEFE"/>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124" name="Google Shape;124;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1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6"/>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17"/>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7"/>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0" y="-8467"/>
            <a:ext cx="12192000" cy="6866467"/>
            <a:chOff x="0" y="-8467"/>
            <a:chExt cx="12192000" cy="6866467"/>
          </a:xfrm>
        </p:grpSpPr>
        <p:cxnSp>
          <p:nvCxnSpPr>
            <p:cNvPr id="7" name="Google Shape;7;p1"/>
            <p:cNvCxnSpPr/>
            <p:nvPr/>
          </p:nvCxnSpPr>
          <p:spPr>
            <a:xfrm>
              <a:off x="9371012" y="0"/>
              <a:ext cx="1219200" cy="6858000"/>
            </a:xfrm>
            <a:prstGeom prst="straightConnector1">
              <a:avLst/>
            </a:prstGeom>
            <a:noFill/>
            <a:ln w="9525" cap="flat" cmpd="sng">
              <a:solidFill>
                <a:srgbClr val="262626"/>
              </a:solidFill>
              <a:prstDash val="solid"/>
              <a:round/>
              <a:headEnd type="none" w="sm" len="sm"/>
              <a:tailEnd type="none" w="sm" len="sm"/>
            </a:ln>
          </p:spPr>
        </p:cxnSp>
        <p:cxnSp>
          <p:nvCxnSpPr>
            <p:cNvPr id="8" name="Google Shape;8;p1"/>
            <p:cNvCxnSpPr/>
            <p:nvPr/>
          </p:nvCxnSpPr>
          <p:spPr>
            <a:xfrm flipH="1">
              <a:off x="7425267" y="3681413"/>
              <a:ext cx="4763558" cy="3176587"/>
            </a:xfrm>
            <a:prstGeom prst="straightConnector1">
              <a:avLst/>
            </a:prstGeom>
            <a:noFill/>
            <a:ln w="9525" cap="flat" cmpd="sng">
              <a:solidFill>
                <a:srgbClr val="262626"/>
              </a:solidFill>
              <a:prstDash val="solid"/>
              <a:round/>
              <a:headEnd type="none" w="sm" len="sm"/>
              <a:tailEnd type="none" w="sm" len="sm"/>
            </a:ln>
          </p:spPr>
        </p:cxnSp>
        <p:sp>
          <p:nvSpPr>
            <p:cNvPr id="9" name="Google Shape;9;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0" name="Google Shape;10;p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
            <p:cNvSpPr/>
            <p:nvPr/>
          </p:nvSpPr>
          <p:spPr>
            <a:xfrm>
              <a:off x="8932333" y="3048000"/>
              <a:ext cx="3259667" cy="3810000"/>
            </a:xfrm>
            <a:prstGeom prst="triangle">
              <a:avLst>
                <a:gd name="adj" fmla="val 100000"/>
              </a:avLst>
            </a:prstGeom>
            <a:solidFill>
              <a:schemeClr val="accent2">
                <a:alpha val="72156"/>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3" name="Google Shape;13;p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4" name="Google Shape;14;p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5" name="Google Shape;15;p1"/>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0" y="4013200"/>
              <a:ext cx="448733" cy="2844800"/>
            </a:xfrm>
            <a:prstGeom prst="triangle">
              <a:avLst>
                <a:gd name="adj" fmla="val 0"/>
              </a:avLst>
            </a:prstGeom>
            <a:solidFill>
              <a:schemeClr val="accent1">
                <a:alpha val="85098"/>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8" name="Google Shape;18;p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FEFEFE"/>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FEFEFE"/>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FEFEFE"/>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a:ea typeface="Trebuchet MS"/>
                <a:cs typeface="Trebuchet MS"/>
                <a:sym typeface="Trebuchet MS"/>
              </a:defRPr>
            </a:lvl9pPr>
          </a:lstStyle>
          <a:p>
            <a:endParaRPr/>
          </a:p>
        </p:txBody>
      </p:sp>
      <p:sp>
        <p:nvSpPr>
          <p:cNvPr id="19" name="Google Shape;19;p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l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9pPr>
          </a:lstStyle>
          <a:p>
            <a:endParaRPr/>
          </a:p>
        </p:txBody>
      </p:sp>
      <p:sp>
        <p:nvSpPr>
          <p:cNvPr id="20" name="Google Shape;20;p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9pPr>
          </a:lstStyle>
          <a:p>
            <a:endParaRPr/>
          </a:p>
        </p:txBody>
      </p:sp>
      <p:sp>
        <p:nvSpPr>
          <p:cNvPr id="21" name="Google Shape;21;p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ctrTitle"/>
          </p:nvPr>
        </p:nvSpPr>
        <p:spPr>
          <a:xfrm>
            <a:off x="1507067" y="-779318"/>
            <a:ext cx="7766936" cy="4830154"/>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5400"/>
              <a:buFont typeface="Trebuchet MS"/>
              <a:buNone/>
            </a:pPr>
            <a:r>
              <a:rPr lang="en-US"/>
              <a:t>ENERGY DEMAND PREDICTION USING MACHINE LEARNING                                                                           </a:t>
            </a:r>
            <a:endParaRPr/>
          </a:p>
        </p:txBody>
      </p:sp>
      <p:sp>
        <p:nvSpPr>
          <p:cNvPr id="144" name="Google Shape;144;p18"/>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2240"/>
              <a:buNone/>
            </a:pPr>
            <a:r>
              <a:rPr lang="en-US" sz="2800" b="1"/>
              <a:t>GROUP-6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Team Members</a:t>
            </a:r>
            <a:endParaRPr/>
          </a:p>
        </p:txBody>
      </p:sp>
      <p:sp>
        <p:nvSpPr>
          <p:cNvPr id="150" name="Google Shape;150;p1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Tia  Moncy</a:t>
            </a:r>
            <a:endParaRPr/>
          </a:p>
          <a:p>
            <a:pPr marL="342900" lvl="0" indent="-342900" algn="l" rtl="0">
              <a:spcBef>
                <a:spcPts val="1000"/>
              </a:spcBef>
              <a:spcAft>
                <a:spcPts val="0"/>
              </a:spcAft>
              <a:buSzPts val="1440"/>
              <a:buChar char="►"/>
            </a:pPr>
            <a:r>
              <a:rPr lang="en-US"/>
              <a:t>Ann Rachel Sujith</a:t>
            </a:r>
            <a:endParaRPr/>
          </a:p>
          <a:p>
            <a:pPr marL="342900" lvl="0" indent="-342900" algn="l" rtl="0">
              <a:spcBef>
                <a:spcPts val="1000"/>
              </a:spcBef>
              <a:spcAft>
                <a:spcPts val="0"/>
              </a:spcAft>
              <a:buSzPts val="1440"/>
              <a:buChar char="►"/>
            </a:pPr>
            <a:r>
              <a:rPr lang="en-US"/>
              <a:t>Megha B </a:t>
            </a:r>
            <a:endParaRPr/>
          </a:p>
          <a:p>
            <a:pPr marL="342900" lvl="0" indent="-342900" algn="l" rtl="0">
              <a:spcBef>
                <a:spcPts val="1000"/>
              </a:spcBef>
              <a:spcAft>
                <a:spcPts val="0"/>
              </a:spcAft>
              <a:buSzPts val="1440"/>
              <a:buChar char="►"/>
            </a:pPr>
            <a:r>
              <a:rPr lang="en-US"/>
              <a:t>Aazim Rahman</a:t>
            </a:r>
            <a:endParaRPr/>
          </a:p>
          <a:p>
            <a:pPr marL="342900" lvl="0" indent="-342900" algn="l" rtl="0">
              <a:spcBef>
                <a:spcPts val="1000"/>
              </a:spcBef>
              <a:spcAft>
                <a:spcPts val="0"/>
              </a:spcAft>
              <a:buSzPts val="1440"/>
              <a:buChar char="►"/>
            </a:pPr>
            <a:r>
              <a:rPr lang="en-US"/>
              <a:t>Mityish Manoj Nair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INTRODUCTION</a:t>
            </a:r>
            <a:endParaRPr/>
          </a:p>
        </p:txBody>
      </p:sp>
      <p:sp>
        <p:nvSpPr>
          <p:cNvPr id="156" name="Google Shape;156;p20"/>
          <p:cNvSpPr txBox="1">
            <a:spLocks noGrp="1"/>
          </p:cNvSpPr>
          <p:nvPr>
            <p:ph type="body" idx="1"/>
          </p:nvPr>
        </p:nvSpPr>
        <p:spPr>
          <a:xfrm>
            <a:off x="677334" y="1413165"/>
            <a:ext cx="8596668" cy="4628198"/>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t>Electricity demand varies throughout the day and across different seasons due to changes in weather conditions and human activities. Factors such as temperature, time of day, and special events significantly influence energy consumption patterns. During extreme weather conditions, such as very high or very low temperatures, electricity usage tends to increase. Accurate prediction of energy demand is essential for efficient power generation, proper distribution, and reducing energy wastage. In this project, machine learning techniques are used to analyze historical data and forecast future electricity demand more effectively.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title"/>
          </p:nvPr>
        </p:nvSpPr>
        <p:spPr>
          <a:xfrm>
            <a:off x="677334" y="609600"/>
            <a:ext cx="8596668" cy="626918"/>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a:t>Problem Statement</a:t>
            </a:r>
            <a:endParaRPr/>
          </a:p>
        </p:txBody>
      </p:sp>
      <p:sp>
        <p:nvSpPr>
          <p:cNvPr id="162" name="Google Shape;162;p21"/>
          <p:cNvSpPr txBox="1">
            <a:spLocks noGrp="1"/>
          </p:cNvSpPr>
          <p:nvPr>
            <p:ph type="body" idx="1"/>
          </p:nvPr>
        </p:nvSpPr>
        <p:spPr>
          <a:xfrm>
            <a:off x="677334" y="1371601"/>
            <a:ext cx="8596668" cy="46697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The objective of this project is to predict electricity demand in megawatts using historical environmental and time-based data. Since energy demand is a continuous numerical value, the problem is approached using supervised machine learning regression techniques. The model analyzes features such as temperature, hour, day, month, and holiday information to identify patterns and generate accurate demand predictions.</a:t>
            </a:r>
            <a:endParaRPr/>
          </a:p>
          <a:p>
            <a:pPr marL="342900" lvl="0" indent="-342900" algn="l" rtl="0">
              <a:spcBef>
                <a:spcPts val="1000"/>
              </a:spcBef>
              <a:spcAft>
                <a:spcPts val="0"/>
              </a:spcAft>
              <a:buSzPts val="1440"/>
              <a:buChar char="►"/>
            </a:pPr>
            <a:r>
              <a:rPr lang="en-US"/>
              <a:t>Predict Energy_Demand_MW accurately</a:t>
            </a:r>
            <a:endParaRPr/>
          </a:p>
          <a:p>
            <a:pPr marL="342900" lvl="0" indent="-342900" algn="l" rtl="0">
              <a:spcBef>
                <a:spcPts val="1000"/>
              </a:spcBef>
              <a:spcAft>
                <a:spcPts val="0"/>
              </a:spcAft>
              <a:buSzPts val="1440"/>
              <a:buChar char="►"/>
            </a:pPr>
            <a:r>
              <a:rPr lang="en-US"/>
              <a:t>Use historical temperature and time-based features</a:t>
            </a:r>
            <a:endParaRPr/>
          </a:p>
          <a:p>
            <a:pPr marL="342900" lvl="0" indent="-342900" algn="l" rtl="0">
              <a:spcBef>
                <a:spcPts val="1000"/>
              </a:spcBef>
              <a:spcAft>
                <a:spcPts val="0"/>
              </a:spcAft>
              <a:buSzPts val="1440"/>
              <a:buChar char="►"/>
            </a:pPr>
            <a:r>
              <a:rPr lang="en-US"/>
              <a:t>Apply supervised machine learning (Regression)</a:t>
            </a:r>
            <a:endParaRPr/>
          </a:p>
          <a:p>
            <a:pPr marL="342900" lvl="0" indent="-342900" algn="l" rtl="0">
              <a:spcBef>
                <a:spcPts val="1000"/>
              </a:spcBef>
              <a:spcAft>
                <a:spcPts val="0"/>
              </a:spcAft>
              <a:buSzPts val="1440"/>
              <a:buChar char="►"/>
            </a:pPr>
            <a:r>
              <a:rPr lang="en-US"/>
              <a:t>Improve forecasting accuracy</a:t>
            </a:r>
            <a:endParaRPr/>
          </a:p>
          <a:p>
            <a:pPr marL="342900" lvl="0" indent="-342900" algn="l" rtl="0">
              <a:spcBef>
                <a:spcPts val="1000"/>
              </a:spcBef>
              <a:spcAft>
                <a:spcPts val="0"/>
              </a:spcAft>
              <a:buSzPts val="1440"/>
              <a:buChar char="►"/>
            </a:pPr>
            <a:r>
              <a:rPr lang="en-US"/>
              <a:t>Support efficient power generation and distribution</a:t>
            </a: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title"/>
          </p:nvPr>
        </p:nvSpPr>
        <p:spPr>
          <a:xfrm>
            <a:off x="677334" y="609600"/>
            <a:ext cx="8596668" cy="83473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Dataset Overview</a:t>
            </a:r>
            <a:endParaRPr/>
          </a:p>
        </p:txBody>
      </p:sp>
      <p:sp>
        <p:nvSpPr>
          <p:cNvPr id="168" name="Google Shape;168;p22"/>
          <p:cNvSpPr txBox="1">
            <a:spLocks noGrp="1"/>
          </p:cNvSpPr>
          <p:nvPr>
            <p:ph type="body" idx="1"/>
          </p:nvPr>
        </p:nvSpPr>
        <p:spPr>
          <a:xfrm>
            <a:off x="677334" y="1361209"/>
            <a:ext cx="8596668" cy="468015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None/>
            </a:pPr>
            <a:r>
              <a:rPr lang="en-US"/>
              <a:t>     The dataset used in this project consists of historical electricity consumption data along with environmental and time-based variables. These features help capture daily patterns, seasonal trends, and special event variations in energy usage. The dataset is structured to support supervised learning, where input features are used to predict electricity demand in megawatts.</a:t>
            </a:r>
            <a:endParaRPr/>
          </a:p>
          <a:p>
            <a:pPr marL="342900" lvl="0" indent="-342900" algn="l" rtl="0">
              <a:spcBef>
                <a:spcPts val="1000"/>
              </a:spcBef>
              <a:spcAft>
                <a:spcPts val="0"/>
              </a:spcAft>
              <a:buSzPts val="1440"/>
              <a:buNone/>
            </a:pPr>
            <a:r>
              <a:rPr lang="en-US" b="1"/>
              <a:t>Dataset Characteristics:</a:t>
            </a:r>
            <a:endParaRPr/>
          </a:p>
          <a:p>
            <a:pPr marL="342900" lvl="0" indent="-342900" algn="l" rtl="0">
              <a:spcBef>
                <a:spcPts val="1000"/>
              </a:spcBef>
              <a:spcAft>
                <a:spcPts val="0"/>
              </a:spcAft>
              <a:buSzPts val="1440"/>
              <a:buFont typeface="Arial"/>
              <a:buChar char="•"/>
            </a:pPr>
            <a:r>
              <a:rPr lang="en-US"/>
              <a:t>Contains historical energy demand records</a:t>
            </a:r>
            <a:endParaRPr/>
          </a:p>
          <a:p>
            <a:pPr marL="342900" lvl="0" indent="-342900" algn="l" rtl="0">
              <a:spcBef>
                <a:spcPts val="1000"/>
              </a:spcBef>
              <a:spcAft>
                <a:spcPts val="0"/>
              </a:spcAft>
              <a:buSzPts val="1440"/>
              <a:buFont typeface="Arial"/>
              <a:buChar char="•"/>
            </a:pPr>
            <a:r>
              <a:rPr lang="en-US"/>
              <a:t>Includes environmental and temporal features</a:t>
            </a:r>
            <a:endParaRPr/>
          </a:p>
          <a:p>
            <a:pPr marL="342900" lvl="0" indent="-342900" algn="l" rtl="0">
              <a:spcBef>
                <a:spcPts val="1000"/>
              </a:spcBef>
              <a:spcAft>
                <a:spcPts val="0"/>
              </a:spcAft>
              <a:buSzPts val="1440"/>
              <a:buFont typeface="Arial"/>
              <a:buChar char="•"/>
            </a:pPr>
            <a:r>
              <a:rPr lang="en-US"/>
              <a:t>Structured for regression modeling</a:t>
            </a:r>
            <a:endParaRPr/>
          </a:p>
          <a:p>
            <a:pPr marL="342900" lvl="0" indent="-342900" algn="l" rtl="0">
              <a:spcBef>
                <a:spcPts val="1000"/>
              </a:spcBef>
              <a:spcAft>
                <a:spcPts val="0"/>
              </a:spcAft>
              <a:buSzPts val="1440"/>
              <a:buFont typeface="Arial"/>
              <a:buChar char="•"/>
            </a:pPr>
            <a:r>
              <a:rPr lang="en-US"/>
              <a:t>Captures daily and seasonal consumption patterns</a:t>
            </a:r>
            <a:endParaRPr/>
          </a:p>
          <a:p>
            <a:pPr marL="342900" lvl="0" indent="-342900" algn="l" rtl="0">
              <a:spcBef>
                <a:spcPts val="1000"/>
              </a:spcBef>
              <a:spcAft>
                <a:spcPts val="0"/>
              </a:spcAft>
              <a:buSzPts val="1440"/>
              <a:buFont typeface="Arial"/>
              <a:buChar char="•"/>
            </a:pPr>
            <a:r>
              <a:rPr lang="en-US"/>
              <a:t>Used for training and testing machine learning models</a:t>
            </a:r>
            <a:endParaRPr/>
          </a:p>
          <a:p>
            <a:pPr marL="342900" lvl="0" indent="-251459" algn="l" rtl="0">
              <a:spcBef>
                <a:spcPts val="1000"/>
              </a:spcBef>
              <a:spcAft>
                <a:spcPts val="0"/>
              </a:spcAft>
              <a:buSzPts val="144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Data Cleaning</a:t>
            </a:r>
            <a:endParaRPr/>
          </a:p>
        </p:txBody>
      </p:sp>
      <p:sp>
        <p:nvSpPr>
          <p:cNvPr id="174" name="Google Shape;174;p2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The dataset underwent a comprehensive data cleaning process to ensure accuracy and reliability before analysis. Initially, duplicate records were identified and removed to prevent redundancy and bias in the results. The </a:t>
            </a:r>
            <a:r>
              <a:rPr lang="en-US" i="1"/>
              <a:t>Timestamp</a:t>
            </a:r>
            <a:r>
              <a:rPr lang="en-US"/>
              <a:t> column was then converted into a proper datetime format to enable accurate time-based analysis. From this timestamp, additional features such as Hour, Day, and Month were extracted to capture hourly trends, daily patterns, and seasonal variations in electricity consumption. Finally, outliers in energy usage were treated using the Interquartile Range (IQR) method by calculating Q1, Q3, and the IQR to remove values falling outside the acceptable range. These steps enhanced the overall quality, consistency, and suitability of the dataset for regression modeling and machine learning analysis.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Exploratory Data Analysis (Overview)</a:t>
            </a:r>
            <a:endParaRPr/>
          </a:p>
        </p:txBody>
      </p:sp>
      <p:sp>
        <p:nvSpPr>
          <p:cNvPr id="180" name="Google Shape;180;p24"/>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Exploratory Data Analysis (EDA) is a crucial step performed before building machine learning models, as it helps in understanding the structure, patterns, and distribution of the dataset. Through EDA, we analyze trends, variations, and anomalies in electricity consumption to gain meaningful insights. It helps identify relationships between energy usage and features such as time, environmental factors, and seasonal changes. By examining correlations and patterns, EDA enables better feature selection and improves understanding of how variables influence the target value. This process ultimately supports informed decision-making and helps in selecting the most suitable regression models for accurate prediction of electricity demand.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Feature Engineering</a:t>
            </a:r>
            <a:endParaRPr/>
          </a:p>
        </p:txBody>
      </p:sp>
      <p:sp>
        <p:nvSpPr>
          <p:cNvPr id="186" name="Google Shape;186;p2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Feature engineering was performed to enhance the predictive capability of the model by creating meaningful new variables from existing features. An interaction feature, </a:t>
            </a:r>
            <a:r>
              <a:rPr lang="en-US" b="1"/>
              <a:t>Temperature × Hour</a:t>
            </a:r>
            <a:r>
              <a:rPr lang="en-US"/>
              <a:t>, was created to capture how temperature impacts electricity demand differently at various times of the day. For example, high temperatures during peak hours may result in significantly higher demand compared to the same temperature at night. Additionally, a </a:t>
            </a:r>
            <a:r>
              <a:rPr lang="en-US" b="1"/>
              <a:t>Temperature² (squared temperature)</a:t>
            </a:r>
            <a:r>
              <a:rPr lang="en-US"/>
              <a:t> feature was introduced to model the non-linear relationship between temperature and demand. Since electricity usage increases at both very high and very low temperatures, linear features alone cannot capture this curved pattern effectively. Incorporating non-linear features improves model accuracy by allowing it to better understand complex relationships within the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Model Building</a:t>
            </a:r>
            <a:endParaRPr/>
          </a:p>
        </p:txBody>
      </p:sp>
      <p:sp>
        <p:nvSpPr>
          <p:cNvPr id="192" name="Google Shape;192;p26"/>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To predict electricity demand accurately, multiple machine learning models were implemented and compared. </a:t>
            </a:r>
            <a:r>
              <a:rPr lang="en-US" b="1"/>
              <a:t>Linear Regression</a:t>
            </a:r>
            <a:r>
              <a:rPr lang="en-US"/>
              <a:t> was used as a baseline model to understand the direct relationship between input features and energy demand. It assumes a linear relationship and provides a simple, interpretable foundation for comparison. </a:t>
            </a:r>
            <a:r>
              <a:rPr lang="en-US" b="1"/>
              <a:t>Ridge Regression</a:t>
            </a:r>
            <a:r>
              <a:rPr lang="en-US"/>
              <a:t> was then applied to improve performance by adding regularization, which helps reduce overfitting and manages multicollinearity among features. Finally, </a:t>
            </a:r>
            <a:r>
              <a:rPr lang="en-US" b="1"/>
              <a:t>Random Forest</a:t>
            </a:r>
            <a:r>
              <a:rPr lang="en-US"/>
              <a:t> was implemented as an advanced ensemble model that builds multiple decision trees and combines their outputs for better accuracy. Unlike linear models, Random Forest can capture complex and non-linear relationships in the data, making it highly effective for electricity demand forecasting.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7"/>
          <p:cNvSpPr txBox="1">
            <a:spLocks noGrp="1"/>
          </p:cNvSpPr>
          <p:nvPr>
            <p:ph type="body" idx="1"/>
          </p:nvPr>
        </p:nvSpPr>
        <p:spPr>
          <a:xfrm>
            <a:off x="241200" y="1531375"/>
            <a:ext cx="5431800" cy="33132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1200"/>
              </a:spcBef>
              <a:spcAft>
                <a:spcPts val="0"/>
              </a:spcAft>
              <a:buSzPts val="935"/>
              <a:buNone/>
            </a:pPr>
            <a:endParaRPr sz="1829" b="1">
              <a:solidFill>
                <a:schemeClr val="lt1"/>
              </a:solidFill>
            </a:endParaRPr>
          </a:p>
          <a:p>
            <a:pPr marL="457200" lvl="0" indent="-344805" algn="l" rtl="0">
              <a:lnSpc>
                <a:spcPct val="95000"/>
              </a:lnSpc>
              <a:spcBef>
                <a:spcPts val="1200"/>
              </a:spcBef>
              <a:spcAft>
                <a:spcPts val="0"/>
              </a:spcAft>
              <a:buClr>
                <a:schemeClr val="lt1"/>
              </a:buClr>
              <a:buSzPts val="1830"/>
              <a:buFont typeface="Trebuchet MS"/>
              <a:buChar char="●"/>
            </a:pPr>
            <a:r>
              <a:rPr lang="en-US" sz="1829">
                <a:solidFill>
                  <a:schemeClr val="lt1"/>
                </a:solidFill>
              </a:rPr>
              <a:t>The histogram shows the overall distribution of energy demand values.</a:t>
            </a:r>
            <a:br>
              <a:rPr lang="en-US" sz="1829">
                <a:solidFill>
                  <a:schemeClr val="lt1"/>
                </a:solidFill>
              </a:rPr>
            </a:br>
            <a:endParaRPr sz="1829">
              <a:solidFill>
                <a:schemeClr val="lt1"/>
              </a:solidFill>
            </a:endParaRPr>
          </a:p>
          <a:p>
            <a:pPr marL="457200" lvl="0" indent="-344805" algn="l" rtl="0">
              <a:lnSpc>
                <a:spcPct val="95000"/>
              </a:lnSpc>
              <a:spcBef>
                <a:spcPts val="0"/>
              </a:spcBef>
              <a:spcAft>
                <a:spcPts val="0"/>
              </a:spcAft>
              <a:buClr>
                <a:schemeClr val="lt1"/>
              </a:buClr>
              <a:buSzPts val="1830"/>
              <a:buFont typeface="Arial"/>
              <a:buChar char="●"/>
            </a:pPr>
            <a:r>
              <a:rPr lang="en-US" sz="1829">
                <a:solidFill>
                  <a:schemeClr val="lt1"/>
                </a:solidFill>
              </a:rPr>
              <a:t>Most demand values are concentrated in the </a:t>
            </a:r>
            <a:r>
              <a:rPr lang="en-US" sz="1829" b="1">
                <a:solidFill>
                  <a:schemeClr val="lt1"/>
                </a:solidFill>
              </a:rPr>
              <a:t>mid-range</a:t>
            </a:r>
            <a:r>
              <a:rPr lang="en-US" sz="1829">
                <a:solidFill>
                  <a:schemeClr val="lt1"/>
                </a:solidFill>
              </a:rPr>
              <a:t>.</a:t>
            </a:r>
            <a:br>
              <a:rPr lang="en-US" sz="1829">
                <a:solidFill>
                  <a:schemeClr val="lt1"/>
                </a:solidFill>
              </a:rPr>
            </a:br>
            <a:endParaRPr sz="1829">
              <a:solidFill>
                <a:schemeClr val="lt1"/>
              </a:solidFill>
            </a:endParaRPr>
          </a:p>
          <a:p>
            <a:pPr marL="457200" lvl="0" indent="-344805" algn="l" rtl="0">
              <a:lnSpc>
                <a:spcPct val="95000"/>
              </a:lnSpc>
              <a:spcBef>
                <a:spcPts val="0"/>
              </a:spcBef>
              <a:spcAft>
                <a:spcPts val="0"/>
              </a:spcAft>
              <a:buClr>
                <a:schemeClr val="lt1"/>
              </a:buClr>
              <a:buSzPts val="1830"/>
              <a:buFont typeface="Arial"/>
              <a:buChar char="●"/>
            </a:pPr>
            <a:r>
              <a:rPr lang="en-US" sz="1829">
                <a:solidFill>
                  <a:schemeClr val="lt1"/>
                </a:solidFill>
              </a:rPr>
              <a:t>The distribution appears </a:t>
            </a:r>
            <a:r>
              <a:rPr lang="en-US" sz="1829" b="1">
                <a:solidFill>
                  <a:schemeClr val="lt1"/>
                </a:solidFill>
              </a:rPr>
              <a:t>slightly skewed</a:t>
            </a:r>
            <a:r>
              <a:rPr lang="en-US" sz="1829">
                <a:solidFill>
                  <a:schemeClr val="lt1"/>
                </a:solidFill>
              </a:rPr>
              <a:t>, with some extreme high and low values.</a:t>
            </a:r>
            <a:br>
              <a:rPr lang="en-US" sz="1829">
                <a:solidFill>
                  <a:schemeClr val="lt1"/>
                </a:solidFill>
              </a:rPr>
            </a:br>
            <a:endParaRPr sz="1829">
              <a:solidFill>
                <a:schemeClr val="lt1"/>
              </a:solidFill>
            </a:endParaRPr>
          </a:p>
          <a:p>
            <a:pPr marL="457200" lvl="0" indent="-344805" algn="l" rtl="0">
              <a:lnSpc>
                <a:spcPct val="95000"/>
              </a:lnSpc>
              <a:spcBef>
                <a:spcPts val="0"/>
              </a:spcBef>
              <a:spcAft>
                <a:spcPts val="0"/>
              </a:spcAft>
              <a:buClr>
                <a:schemeClr val="lt1"/>
              </a:buClr>
              <a:buSzPts val="1830"/>
              <a:buFont typeface="Trebuchet MS"/>
              <a:buChar char="●"/>
            </a:pPr>
            <a:r>
              <a:rPr lang="en-US" sz="1829">
                <a:solidFill>
                  <a:schemeClr val="lt1"/>
                </a:solidFill>
              </a:rPr>
              <a:t>Presence of outliers suggests occasional unusually high demand periods.</a:t>
            </a:r>
            <a:endParaRPr sz="1829">
              <a:solidFill>
                <a:schemeClr val="lt1"/>
              </a:solidFill>
            </a:endParaRPr>
          </a:p>
          <a:p>
            <a:pPr marL="342900" lvl="0" indent="-251459" algn="l" rtl="0">
              <a:lnSpc>
                <a:spcPct val="80000"/>
              </a:lnSpc>
              <a:spcBef>
                <a:spcPts val="1200"/>
              </a:spcBef>
              <a:spcAft>
                <a:spcPts val="0"/>
              </a:spcAft>
              <a:buSzPts val="1224"/>
              <a:buNone/>
            </a:pPr>
            <a:endParaRPr sz="1829">
              <a:solidFill>
                <a:schemeClr val="lt1"/>
              </a:solidFill>
            </a:endParaRPr>
          </a:p>
        </p:txBody>
      </p:sp>
      <p:sp>
        <p:nvSpPr>
          <p:cNvPr id="198" name="Google Shape;198;p27"/>
          <p:cNvSpPr txBox="1"/>
          <p:nvPr/>
        </p:nvSpPr>
        <p:spPr>
          <a:xfrm>
            <a:off x="372150" y="450950"/>
            <a:ext cx="5169900" cy="1258800"/>
          </a:xfrm>
          <a:prstGeom prst="rect">
            <a:avLst/>
          </a:prstGeom>
          <a:noFill/>
          <a:ln>
            <a:noFill/>
          </a:ln>
        </p:spPr>
        <p:txBody>
          <a:bodyPr spcFirstLastPara="1" wrap="square" lIns="91425" tIns="91425" rIns="91425" bIns="91425" anchor="t" anchorCtr="0">
            <a:normAutofit fontScale="55000" lnSpcReduction="20000"/>
          </a:bodyPr>
          <a:lstStyle/>
          <a:p>
            <a:pPr marL="0" lvl="0" indent="0" algn="ctr" rtl="0">
              <a:lnSpc>
                <a:spcPct val="115000"/>
              </a:lnSpc>
              <a:spcBef>
                <a:spcPts val="1200"/>
              </a:spcBef>
              <a:spcAft>
                <a:spcPts val="0"/>
              </a:spcAft>
              <a:buNone/>
            </a:pPr>
            <a:r>
              <a:rPr lang="en-US" sz="3600" b="1">
                <a:solidFill>
                  <a:schemeClr val="accent1"/>
                </a:solidFill>
                <a:latin typeface="Trebuchet MS"/>
                <a:ea typeface="Trebuchet MS"/>
                <a:cs typeface="Trebuchet MS"/>
                <a:sym typeface="Trebuchet MS"/>
              </a:rPr>
              <a:t>Distribution of Energy</a:t>
            </a:r>
            <a:endParaRPr sz="3600" b="1">
              <a:solidFill>
                <a:schemeClr val="accent1"/>
              </a:solidFill>
              <a:latin typeface="Trebuchet MS"/>
              <a:ea typeface="Trebuchet MS"/>
              <a:cs typeface="Trebuchet MS"/>
              <a:sym typeface="Trebuchet MS"/>
            </a:endParaRPr>
          </a:p>
          <a:p>
            <a:pPr marL="0" lvl="0" indent="0" algn="l" rtl="0">
              <a:lnSpc>
                <a:spcPct val="115000"/>
              </a:lnSpc>
              <a:spcBef>
                <a:spcPts val="1200"/>
              </a:spcBef>
              <a:spcAft>
                <a:spcPts val="1200"/>
              </a:spcAft>
              <a:buNone/>
            </a:pPr>
            <a:r>
              <a:rPr lang="en-US" sz="3600" b="1">
                <a:solidFill>
                  <a:schemeClr val="accent1"/>
                </a:solidFill>
                <a:latin typeface="Trebuchet MS"/>
                <a:ea typeface="Trebuchet MS"/>
                <a:cs typeface="Trebuchet MS"/>
                <a:sym typeface="Trebuchet MS"/>
              </a:rPr>
              <a:t>      Demand (MW)</a:t>
            </a:r>
            <a:endParaRPr sz="3600">
              <a:solidFill>
                <a:schemeClr val="accent1"/>
              </a:solidFill>
            </a:endParaRPr>
          </a:p>
        </p:txBody>
      </p:sp>
      <p:pic>
        <p:nvPicPr>
          <p:cNvPr id="199" name="Google Shape;199;p27"/>
          <p:cNvPicPr preferRelativeResize="0"/>
          <p:nvPr/>
        </p:nvPicPr>
        <p:blipFill>
          <a:blip r:embed="rId3">
            <a:alphaModFix/>
          </a:blip>
          <a:stretch>
            <a:fillRect/>
          </a:stretch>
        </p:blipFill>
        <p:spPr>
          <a:xfrm>
            <a:off x="5779686" y="928375"/>
            <a:ext cx="5965850" cy="4021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a:spLocks noGrp="1"/>
          </p:cNvSpPr>
          <p:nvPr>
            <p:ph type="body" idx="1"/>
          </p:nvPr>
        </p:nvSpPr>
        <p:spPr>
          <a:xfrm>
            <a:off x="384600" y="1701175"/>
            <a:ext cx="5903700" cy="3837900"/>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lnSpc>
                <a:spcPct val="115000"/>
              </a:lnSpc>
              <a:spcBef>
                <a:spcPts val="1200"/>
              </a:spcBef>
              <a:spcAft>
                <a:spcPts val="0"/>
              </a:spcAft>
              <a:buClr>
                <a:schemeClr val="dk1"/>
              </a:buClr>
              <a:buSzPct val="61111"/>
              <a:buFont typeface="Arial"/>
              <a:buNone/>
            </a:pPr>
            <a:endParaRPr b="1">
              <a:solidFill>
                <a:schemeClr val="lt1"/>
              </a:solidFill>
            </a:endParaRPr>
          </a:p>
          <a:p>
            <a:pPr marL="457200" lvl="0" indent="-342684" algn="l" rtl="0">
              <a:lnSpc>
                <a:spcPct val="115000"/>
              </a:lnSpc>
              <a:spcBef>
                <a:spcPts val="1200"/>
              </a:spcBef>
              <a:spcAft>
                <a:spcPts val="0"/>
              </a:spcAft>
              <a:buClr>
                <a:schemeClr val="lt1"/>
              </a:buClr>
              <a:buSzPct val="100000"/>
              <a:buFont typeface="Arial"/>
              <a:buChar char="●"/>
            </a:pPr>
            <a:r>
              <a:rPr lang="en-US" sz="3782">
                <a:solidFill>
                  <a:schemeClr val="lt1"/>
                </a:solidFill>
              </a:rPr>
              <a:t>The scatter plot shows a </a:t>
            </a:r>
            <a:r>
              <a:rPr lang="en-US" sz="3782" b="1">
                <a:solidFill>
                  <a:schemeClr val="lt1"/>
                </a:solidFill>
              </a:rPr>
              <a:t>non-linear relationship</a:t>
            </a:r>
            <a:r>
              <a:rPr lang="en-US" sz="3782">
                <a:solidFill>
                  <a:schemeClr val="lt1"/>
                </a:solidFill>
              </a:rPr>
              <a:t> between outdoor temperature and energy demand.</a:t>
            </a:r>
            <a:br>
              <a:rPr lang="en-US" sz="3782">
                <a:solidFill>
                  <a:schemeClr val="lt1"/>
                </a:solidFill>
              </a:rPr>
            </a:br>
            <a:endParaRPr sz="3782">
              <a:solidFill>
                <a:schemeClr val="lt1"/>
              </a:solidFill>
            </a:endParaRPr>
          </a:p>
          <a:p>
            <a:pPr marL="457200" lvl="0" indent="-342684" algn="l" rtl="0">
              <a:lnSpc>
                <a:spcPct val="115000"/>
              </a:lnSpc>
              <a:spcBef>
                <a:spcPts val="0"/>
              </a:spcBef>
              <a:spcAft>
                <a:spcPts val="0"/>
              </a:spcAft>
              <a:buClr>
                <a:schemeClr val="lt1"/>
              </a:buClr>
              <a:buSzPct val="100000"/>
              <a:buFont typeface="Arial"/>
              <a:buChar char="●"/>
            </a:pPr>
            <a:r>
              <a:rPr lang="en-US" sz="3782">
                <a:solidFill>
                  <a:schemeClr val="lt1"/>
                </a:solidFill>
              </a:rPr>
              <a:t>Demand increases at </a:t>
            </a:r>
            <a:r>
              <a:rPr lang="en-US" sz="3782" b="1">
                <a:solidFill>
                  <a:schemeClr val="lt1"/>
                </a:solidFill>
              </a:rPr>
              <a:t>very low temperatures</a:t>
            </a:r>
            <a:r>
              <a:rPr lang="en-US" sz="3782">
                <a:solidFill>
                  <a:schemeClr val="lt1"/>
                </a:solidFill>
              </a:rPr>
              <a:t> (heating usage).</a:t>
            </a:r>
            <a:br>
              <a:rPr lang="en-US" sz="3782">
                <a:solidFill>
                  <a:schemeClr val="lt1"/>
                </a:solidFill>
              </a:rPr>
            </a:br>
            <a:endParaRPr sz="3782">
              <a:solidFill>
                <a:schemeClr val="lt1"/>
              </a:solidFill>
            </a:endParaRPr>
          </a:p>
          <a:p>
            <a:pPr marL="457200" lvl="0" indent="-342684" algn="l" rtl="0">
              <a:lnSpc>
                <a:spcPct val="115000"/>
              </a:lnSpc>
              <a:spcBef>
                <a:spcPts val="0"/>
              </a:spcBef>
              <a:spcAft>
                <a:spcPts val="0"/>
              </a:spcAft>
              <a:buClr>
                <a:schemeClr val="lt1"/>
              </a:buClr>
              <a:buSzPct val="100000"/>
              <a:buFont typeface="Arial"/>
              <a:buChar char="●"/>
            </a:pPr>
            <a:r>
              <a:rPr lang="en-US" sz="3782">
                <a:solidFill>
                  <a:schemeClr val="lt1"/>
                </a:solidFill>
              </a:rPr>
              <a:t>Demand also rises at </a:t>
            </a:r>
            <a:r>
              <a:rPr lang="en-US" sz="3782" b="1">
                <a:solidFill>
                  <a:schemeClr val="lt1"/>
                </a:solidFill>
              </a:rPr>
              <a:t>high temperatures</a:t>
            </a:r>
            <a:r>
              <a:rPr lang="en-US" sz="3782">
                <a:solidFill>
                  <a:schemeClr val="lt1"/>
                </a:solidFill>
              </a:rPr>
              <a:t> (air conditioning usage).</a:t>
            </a:r>
            <a:br>
              <a:rPr lang="en-US" sz="3782">
                <a:solidFill>
                  <a:schemeClr val="lt1"/>
                </a:solidFill>
              </a:rPr>
            </a:br>
            <a:endParaRPr sz="3782">
              <a:solidFill>
                <a:schemeClr val="lt1"/>
              </a:solidFill>
            </a:endParaRPr>
          </a:p>
          <a:p>
            <a:pPr marL="457200" lvl="0" indent="-342684" algn="l" rtl="0">
              <a:lnSpc>
                <a:spcPct val="115000"/>
              </a:lnSpc>
              <a:spcBef>
                <a:spcPts val="0"/>
              </a:spcBef>
              <a:spcAft>
                <a:spcPts val="0"/>
              </a:spcAft>
              <a:buClr>
                <a:schemeClr val="lt1"/>
              </a:buClr>
              <a:buSzPct val="100000"/>
              <a:buFont typeface="Arial"/>
              <a:buChar char="●"/>
            </a:pPr>
            <a:r>
              <a:rPr lang="en-US" sz="3782">
                <a:solidFill>
                  <a:schemeClr val="lt1"/>
                </a:solidFill>
              </a:rPr>
              <a:t>Moderate temperatures show comparatively </a:t>
            </a:r>
            <a:r>
              <a:rPr lang="en-US" sz="3782" b="1">
                <a:solidFill>
                  <a:schemeClr val="lt1"/>
                </a:solidFill>
              </a:rPr>
              <a:t>lower demand</a:t>
            </a:r>
            <a:r>
              <a:rPr lang="en-US" sz="3782">
                <a:solidFill>
                  <a:schemeClr val="lt1"/>
                </a:solidFill>
              </a:rPr>
              <a:t>.</a:t>
            </a:r>
            <a:endParaRPr sz="3782">
              <a:solidFill>
                <a:schemeClr val="lt1"/>
              </a:solidFill>
            </a:endParaRPr>
          </a:p>
          <a:p>
            <a:pPr marL="342900" lvl="0" indent="-251459" algn="l" rtl="0">
              <a:spcBef>
                <a:spcPts val="1200"/>
              </a:spcBef>
              <a:spcAft>
                <a:spcPts val="0"/>
              </a:spcAft>
              <a:buSzPct val="79999"/>
              <a:buNone/>
            </a:pPr>
            <a:endParaRPr/>
          </a:p>
        </p:txBody>
      </p:sp>
      <p:pic>
        <p:nvPicPr>
          <p:cNvPr id="205" name="Google Shape;205;p28"/>
          <p:cNvPicPr preferRelativeResize="0"/>
          <p:nvPr/>
        </p:nvPicPr>
        <p:blipFill>
          <a:blip r:embed="rId3">
            <a:alphaModFix/>
          </a:blip>
          <a:stretch>
            <a:fillRect/>
          </a:stretch>
        </p:blipFill>
        <p:spPr>
          <a:xfrm>
            <a:off x="6288300" y="325075"/>
            <a:ext cx="5540176" cy="6207850"/>
          </a:xfrm>
          <a:prstGeom prst="rect">
            <a:avLst/>
          </a:prstGeom>
          <a:noFill/>
          <a:ln>
            <a:noFill/>
          </a:ln>
        </p:spPr>
      </p:pic>
      <p:sp>
        <p:nvSpPr>
          <p:cNvPr id="206" name="Google Shape;206;p28"/>
          <p:cNvSpPr txBox="1"/>
          <p:nvPr/>
        </p:nvSpPr>
        <p:spPr>
          <a:xfrm>
            <a:off x="1328400" y="325075"/>
            <a:ext cx="4016100" cy="137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3600" b="1">
                <a:solidFill>
                  <a:schemeClr val="accent1"/>
                </a:solidFill>
                <a:latin typeface="Trebuchet MS"/>
                <a:ea typeface="Trebuchet MS"/>
                <a:cs typeface="Trebuchet MS"/>
                <a:sym typeface="Trebuchet MS"/>
              </a:rPr>
              <a:t>Temperature vs Energy Demand</a:t>
            </a:r>
            <a:endParaRPr sz="3600" b="1">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9"/>
          <p:cNvSpPr txBox="1">
            <a:spLocks noGrp="1"/>
          </p:cNvSpPr>
          <p:nvPr>
            <p:ph type="body" idx="1"/>
          </p:nvPr>
        </p:nvSpPr>
        <p:spPr>
          <a:xfrm>
            <a:off x="262775" y="1499750"/>
            <a:ext cx="5662500" cy="3585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endParaRPr b="1">
              <a:solidFill>
                <a:schemeClr val="lt1"/>
              </a:solidFill>
            </a:endParaRPr>
          </a:p>
          <a:p>
            <a:pPr marL="457200" lvl="0" indent="-342900" algn="l" rtl="0">
              <a:lnSpc>
                <a:spcPct val="115000"/>
              </a:lnSpc>
              <a:spcBef>
                <a:spcPts val="1200"/>
              </a:spcBef>
              <a:spcAft>
                <a:spcPts val="0"/>
              </a:spcAft>
              <a:buClr>
                <a:schemeClr val="lt1"/>
              </a:buClr>
              <a:buSzPts val="1800"/>
              <a:buFont typeface="Arial"/>
              <a:buChar char="●"/>
            </a:pPr>
            <a:r>
              <a:rPr lang="en-US">
                <a:solidFill>
                  <a:schemeClr val="lt1"/>
                </a:solidFill>
              </a:rPr>
              <a:t>The line plot shows a clear </a:t>
            </a:r>
            <a:r>
              <a:rPr lang="en-US" b="1">
                <a:solidFill>
                  <a:schemeClr val="lt1"/>
                </a:solidFill>
              </a:rPr>
              <a:t>daily demand pattern</a:t>
            </a:r>
            <a:r>
              <a:rPr lang="en-US">
                <a:solidFill>
                  <a:schemeClr val="lt1"/>
                </a:solidFill>
              </a:rPr>
              <a:t>.</a:t>
            </a:r>
            <a:br>
              <a:rPr lang="en-US">
                <a:solidFill>
                  <a:schemeClr val="lt1"/>
                </a:solidFill>
              </a:rPr>
            </a:br>
            <a:endParaRPr>
              <a:solidFill>
                <a:schemeClr val="lt1"/>
              </a:solidFill>
            </a:endParaRPr>
          </a:p>
          <a:p>
            <a:pPr marL="457200" lvl="0" indent="-342900" algn="l" rtl="0">
              <a:lnSpc>
                <a:spcPct val="115000"/>
              </a:lnSpc>
              <a:spcBef>
                <a:spcPts val="0"/>
              </a:spcBef>
              <a:spcAft>
                <a:spcPts val="0"/>
              </a:spcAft>
              <a:buClr>
                <a:schemeClr val="lt1"/>
              </a:buClr>
              <a:buSzPts val="1800"/>
              <a:buFont typeface="Arial"/>
              <a:buChar char="●"/>
            </a:pPr>
            <a:r>
              <a:rPr lang="en-US">
                <a:solidFill>
                  <a:schemeClr val="lt1"/>
                </a:solidFill>
              </a:rPr>
              <a:t>Demand peaks in the </a:t>
            </a:r>
            <a:r>
              <a:rPr lang="en-US" b="1">
                <a:solidFill>
                  <a:schemeClr val="lt1"/>
                </a:solidFill>
              </a:rPr>
              <a:t>early morning hours</a:t>
            </a:r>
            <a:r>
              <a:rPr lang="en-US">
                <a:solidFill>
                  <a:schemeClr val="lt1"/>
                </a:solidFill>
              </a:rPr>
              <a:t>.</a:t>
            </a:r>
            <a:br>
              <a:rPr lang="en-US">
                <a:solidFill>
                  <a:schemeClr val="lt1"/>
                </a:solidFill>
              </a:rPr>
            </a:br>
            <a:endParaRPr>
              <a:solidFill>
                <a:schemeClr val="lt1"/>
              </a:solidFill>
            </a:endParaRPr>
          </a:p>
          <a:p>
            <a:pPr marL="457200" lvl="0" indent="-342900" algn="l" rtl="0">
              <a:lnSpc>
                <a:spcPct val="115000"/>
              </a:lnSpc>
              <a:spcBef>
                <a:spcPts val="0"/>
              </a:spcBef>
              <a:spcAft>
                <a:spcPts val="0"/>
              </a:spcAft>
              <a:buClr>
                <a:schemeClr val="lt1"/>
              </a:buClr>
              <a:buSzPts val="1800"/>
              <a:buFont typeface="Trebuchet MS"/>
              <a:buChar char="●"/>
            </a:pPr>
            <a:r>
              <a:rPr lang="en-US">
                <a:solidFill>
                  <a:schemeClr val="lt1"/>
                </a:solidFill>
              </a:rPr>
              <a:t>It gradually decreases in the afternoon.</a:t>
            </a:r>
            <a:br>
              <a:rPr lang="en-US">
                <a:solidFill>
                  <a:schemeClr val="lt1"/>
                </a:solidFill>
              </a:rPr>
            </a:br>
            <a:endParaRPr>
              <a:solidFill>
                <a:schemeClr val="lt1"/>
              </a:solidFill>
            </a:endParaRPr>
          </a:p>
          <a:p>
            <a:pPr marL="457200" lvl="0" indent="-342900" algn="l" rtl="0">
              <a:lnSpc>
                <a:spcPct val="115000"/>
              </a:lnSpc>
              <a:spcBef>
                <a:spcPts val="0"/>
              </a:spcBef>
              <a:spcAft>
                <a:spcPts val="0"/>
              </a:spcAft>
              <a:buClr>
                <a:schemeClr val="lt1"/>
              </a:buClr>
              <a:buSzPts val="1800"/>
              <a:buFont typeface="Arial"/>
              <a:buChar char="●"/>
            </a:pPr>
            <a:r>
              <a:rPr lang="en-US">
                <a:solidFill>
                  <a:schemeClr val="lt1"/>
                </a:solidFill>
              </a:rPr>
              <a:t>The </a:t>
            </a:r>
            <a:r>
              <a:rPr lang="en-US" b="1">
                <a:solidFill>
                  <a:schemeClr val="lt1"/>
                </a:solidFill>
              </a:rPr>
              <a:t>lowest demand</a:t>
            </a:r>
            <a:r>
              <a:rPr lang="en-US">
                <a:solidFill>
                  <a:schemeClr val="lt1"/>
                </a:solidFill>
              </a:rPr>
              <a:t> occurs in the late afternoon/evening before rising again at night.</a:t>
            </a:r>
            <a:endParaRPr>
              <a:solidFill>
                <a:schemeClr val="lt1"/>
              </a:solidFill>
            </a:endParaRPr>
          </a:p>
          <a:p>
            <a:pPr marL="342900" lvl="0" indent="-251459" algn="l" rtl="0">
              <a:spcBef>
                <a:spcPts val="1200"/>
              </a:spcBef>
              <a:spcAft>
                <a:spcPts val="0"/>
              </a:spcAft>
              <a:buSzPts val="1440"/>
              <a:buNone/>
            </a:pPr>
            <a:endParaRPr>
              <a:solidFill>
                <a:schemeClr val="lt1"/>
              </a:solidFill>
            </a:endParaRPr>
          </a:p>
        </p:txBody>
      </p:sp>
      <p:sp>
        <p:nvSpPr>
          <p:cNvPr id="212" name="Google Shape;212;p29"/>
          <p:cNvSpPr txBox="1"/>
          <p:nvPr/>
        </p:nvSpPr>
        <p:spPr>
          <a:xfrm>
            <a:off x="461375" y="419825"/>
            <a:ext cx="4980900" cy="1236900"/>
          </a:xfrm>
          <a:prstGeom prst="rect">
            <a:avLst/>
          </a:prstGeom>
          <a:noFill/>
          <a:ln>
            <a:noFill/>
          </a:ln>
        </p:spPr>
        <p:txBody>
          <a:bodyPr spcFirstLastPara="1" wrap="square" lIns="91425" tIns="91425" rIns="91425" bIns="91425" anchor="t" anchorCtr="0">
            <a:normAutofit fontScale="55000" lnSpcReduction="20000"/>
          </a:bodyPr>
          <a:lstStyle/>
          <a:p>
            <a:pPr marL="0" lvl="0" indent="0" algn="ctr" rtl="0">
              <a:lnSpc>
                <a:spcPct val="115000"/>
              </a:lnSpc>
              <a:spcBef>
                <a:spcPts val="1200"/>
              </a:spcBef>
              <a:spcAft>
                <a:spcPts val="0"/>
              </a:spcAft>
              <a:buNone/>
            </a:pPr>
            <a:r>
              <a:rPr lang="en-US" sz="3600" b="1">
                <a:solidFill>
                  <a:schemeClr val="accent1"/>
                </a:solidFill>
                <a:latin typeface="Trebuchet MS"/>
                <a:ea typeface="Trebuchet MS"/>
                <a:cs typeface="Trebuchet MS"/>
                <a:sym typeface="Trebuchet MS"/>
              </a:rPr>
              <a:t>Energy Demand </a:t>
            </a:r>
            <a:endParaRPr sz="3600" b="1">
              <a:solidFill>
                <a:schemeClr val="accent1"/>
              </a:solidFill>
              <a:latin typeface="Trebuchet MS"/>
              <a:ea typeface="Trebuchet MS"/>
              <a:cs typeface="Trebuchet MS"/>
              <a:sym typeface="Trebuchet MS"/>
            </a:endParaRPr>
          </a:p>
          <a:p>
            <a:pPr marL="0" lvl="0" indent="0" algn="ctr" rtl="0">
              <a:lnSpc>
                <a:spcPct val="115000"/>
              </a:lnSpc>
              <a:spcBef>
                <a:spcPts val="1200"/>
              </a:spcBef>
              <a:spcAft>
                <a:spcPts val="1200"/>
              </a:spcAft>
              <a:buNone/>
            </a:pPr>
            <a:r>
              <a:rPr lang="en-US" sz="3600" b="1">
                <a:solidFill>
                  <a:schemeClr val="accent1"/>
                </a:solidFill>
                <a:latin typeface="Trebuchet MS"/>
                <a:ea typeface="Trebuchet MS"/>
                <a:cs typeface="Trebuchet MS"/>
                <a:sym typeface="Trebuchet MS"/>
              </a:rPr>
              <a:t>by Hour</a:t>
            </a:r>
            <a:endParaRPr sz="3600">
              <a:solidFill>
                <a:schemeClr val="accent1"/>
              </a:solidFill>
            </a:endParaRPr>
          </a:p>
        </p:txBody>
      </p:sp>
      <p:pic>
        <p:nvPicPr>
          <p:cNvPr id="213" name="Google Shape;213;p29"/>
          <p:cNvPicPr preferRelativeResize="0"/>
          <p:nvPr/>
        </p:nvPicPr>
        <p:blipFill>
          <a:blip r:embed="rId3">
            <a:alphaModFix/>
          </a:blip>
          <a:stretch>
            <a:fillRect/>
          </a:stretch>
        </p:blipFill>
        <p:spPr>
          <a:xfrm>
            <a:off x="5862375" y="954225"/>
            <a:ext cx="6012974" cy="4058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0"/>
          <p:cNvSpPr txBox="1">
            <a:spLocks noGrp="1"/>
          </p:cNvSpPr>
          <p:nvPr>
            <p:ph type="body" idx="1"/>
          </p:nvPr>
        </p:nvSpPr>
        <p:spPr>
          <a:xfrm>
            <a:off x="322878" y="1573424"/>
            <a:ext cx="5907900" cy="3439200"/>
          </a:xfrm>
          <a:prstGeom prst="rect">
            <a:avLst/>
          </a:prstGeom>
          <a:noFill/>
          <a:ln>
            <a:noFill/>
          </a:ln>
        </p:spPr>
        <p:txBody>
          <a:bodyPr spcFirstLastPara="1" wrap="square" lIns="91425" tIns="45700" rIns="91425" bIns="45700" anchor="t" anchorCtr="0">
            <a:normAutofit fontScale="32500" lnSpcReduction="20000"/>
          </a:bodyPr>
          <a:lstStyle/>
          <a:p>
            <a:pPr marL="0" lvl="0" indent="0" algn="l" rtl="0">
              <a:lnSpc>
                <a:spcPct val="115000"/>
              </a:lnSpc>
              <a:spcBef>
                <a:spcPts val="1200"/>
              </a:spcBef>
              <a:spcAft>
                <a:spcPts val="0"/>
              </a:spcAft>
              <a:buClr>
                <a:schemeClr val="dk1"/>
              </a:buClr>
              <a:buSzPct val="61111"/>
              <a:buFont typeface="Arial"/>
              <a:buNone/>
            </a:pPr>
            <a:endParaRPr b="1">
              <a:solidFill>
                <a:schemeClr val="lt1"/>
              </a:solidFill>
            </a:endParaRPr>
          </a:p>
          <a:p>
            <a:pPr marL="457200" lvl="0" indent="-342106" algn="l" rtl="0">
              <a:lnSpc>
                <a:spcPct val="115000"/>
              </a:lnSpc>
              <a:spcBef>
                <a:spcPts val="1200"/>
              </a:spcBef>
              <a:spcAft>
                <a:spcPts val="0"/>
              </a:spcAft>
              <a:buClr>
                <a:schemeClr val="lt1"/>
              </a:buClr>
              <a:buSzPct val="100000"/>
              <a:buFont typeface="Arial"/>
              <a:buChar char="●"/>
            </a:pPr>
            <a:r>
              <a:rPr lang="en-US" sz="5500">
                <a:solidFill>
                  <a:schemeClr val="lt1"/>
                </a:solidFill>
              </a:rPr>
              <a:t>The boxplot compares electricity demand on </a:t>
            </a:r>
            <a:r>
              <a:rPr lang="en-US" sz="5500" b="1">
                <a:solidFill>
                  <a:schemeClr val="lt1"/>
                </a:solidFill>
              </a:rPr>
              <a:t>holidays (1)</a:t>
            </a:r>
            <a:r>
              <a:rPr lang="en-US" sz="5500">
                <a:solidFill>
                  <a:schemeClr val="lt1"/>
                </a:solidFill>
              </a:rPr>
              <a:t> and </a:t>
            </a:r>
            <a:r>
              <a:rPr lang="en-US" sz="5500" b="1">
                <a:solidFill>
                  <a:schemeClr val="lt1"/>
                </a:solidFill>
              </a:rPr>
              <a:t>non-holidays (0)</a:t>
            </a:r>
            <a:r>
              <a:rPr lang="en-US" sz="5500">
                <a:solidFill>
                  <a:schemeClr val="lt1"/>
                </a:solidFill>
              </a:rPr>
              <a:t>.</a:t>
            </a:r>
            <a:br>
              <a:rPr lang="en-US" sz="5500">
                <a:solidFill>
                  <a:schemeClr val="lt1"/>
                </a:solidFill>
              </a:rPr>
            </a:br>
            <a:endParaRPr sz="5500">
              <a:solidFill>
                <a:schemeClr val="lt1"/>
              </a:solidFill>
            </a:endParaRPr>
          </a:p>
          <a:p>
            <a:pPr marL="457200" lvl="0" indent="-342106" algn="l" rtl="0">
              <a:lnSpc>
                <a:spcPct val="115000"/>
              </a:lnSpc>
              <a:spcBef>
                <a:spcPts val="0"/>
              </a:spcBef>
              <a:spcAft>
                <a:spcPts val="0"/>
              </a:spcAft>
              <a:buClr>
                <a:schemeClr val="lt1"/>
              </a:buClr>
              <a:buSzPct val="100000"/>
              <a:buFont typeface="Arial"/>
              <a:buChar char="●"/>
            </a:pPr>
            <a:r>
              <a:rPr lang="en-US" sz="5500">
                <a:solidFill>
                  <a:schemeClr val="lt1"/>
                </a:solidFill>
              </a:rPr>
              <a:t>The overall distribution and median demand are </a:t>
            </a:r>
            <a:r>
              <a:rPr lang="en-US" sz="5500" b="1">
                <a:solidFill>
                  <a:schemeClr val="lt1"/>
                </a:solidFill>
              </a:rPr>
              <a:t>quite similar</a:t>
            </a:r>
            <a:r>
              <a:rPr lang="en-US" sz="5500">
                <a:solidFill>
                  <a:schemeClr val="lt1"/>
                </a:solidFill>
              </a:rPr>
              <a:t>.</a:t>
            </a:r>
            <a:br>
              <a:rPr lang="en-US" sz="5500">
                <a:solidFill>
                  <a:schemeClr val="lt1"/>
                </a:solidFill>
              </a:rPr>
            </a:br>
            <a:endParaRPr sz="5500">
              <a:solidFill>
                <a:schemeClr val="lt1"/>
              </a:solidFill>
            </a:endParaRPr>
          </a:p>
          <a:p>
            <a:pPr marL="457200" lvl="0" indent="-342106" algn="l" rtl="0">
              <a:lnSpc>
                <a:spcPct val="115000"/>
              </a:lnSpc>
              <a:spcBef>
                <a:spcPts val="0"/>
              </a:spcBef>
              <a:spcAft>
                <a:spcPts val="0"/>
              </a:spcAft>
              <a:buClr>
                <a:schemeClr val="lt1"/>
              </a:buClr>
              <a:buSzPct val="100000"/>
              <a:buFont typeface="Arial"/>
              <a:buChar char="●"/>
            </a:pPr>
            <a:r>
              <a:rPr lang="en-US" sz="5500">
                <a:solidFill>
                  <a:schemeClr val="lt1"/>
                </a:solidFill>
              </a:rPr>
              <a:t>Slight variations suggest changes in </a:t>
            </a:r>
            <a:r>
              <a:rPr lang="en-US" sz="5500" b="1">
                <a:solidFill>
                  <a:schemeClr val="lt1"/>
                </a:solidFill>
              </a:rPr>
              <a:t>residential vs commercial usage patterns</a:t>
            </a:r>
            <a:r>
              <a:rPr lang="en-US" sz="5500">
                <a:solidFill>
                  <a:schemeClr val="lt1"/>
                </a:solidFill>
              </a:rPr>
              <a:t>.</a:t>
            </a:r>
            <a:br>
              <a:rPr lang="en-US" sz="5500">
                <a:solidFill>
                  <a:schemeClr val="lt1"/>
                </a:solidFill>
              </a:rPr>
            </a:br>
            <a:endParaRPr sz="5500">
              <a:solidFill>
                <a:schemeClr val="lt1"/>
              </a:solidFill>
            </a:endParaRPr>
          </a:p>
          <a:p>
            <a:pPr marL="457200" lvl="0" indent="-342106" algn="l" rtl="0">
              <a:lnSpc>
                <a:spcPct val="115000"/>
              </a:lnSpc>
              <a:spcBef>
                <a:spcPts val="0"/>
              </a:spcBef>
              <a:spcAft>
                <a:spcPts val="0"/>
              </a:spcAft>
              <a:buClr>
                <a:schemeClr val="lt1"/>
              </a:buClr>
              <a:buSzPct val="100000"/>
              <a:buFont typeface="Trebuchet MS"/>
              <a:buChar char="●"/>
            </a:pPr>
            <a:r>
              <a:rPr lang="en-US" sz="5500">
                <a:solidFill>
                  <a:schemeClr val="lt1"/>
                </a:solidFill>
              </a:rPr>
              <a:t>A few outliers indicate occasional unusually high or low demand.</a:t>
            </a:r>
            <a:endParaRPr sz="5500">
              <a:solidFill>
                <a:schemeClr val="lt1"/>
              </a:solidFill>
            </a:endParaRPr>
          </a:p>
          <a:p>
            <a:pPr marL="342900" lvl="0" indent="-251459" algn="l" rtl="0">
              <a:spcBef>
                <a:spcPts val="1200"/>
              </a:spcBef>
              <a:spcAft>
                <a:spcPts val="0"/>
              </a:spcAft>
              <a:buSzPct val="79999"/>
              <a:buNone/>
            </a:pPr>
            <a:endParaRPr>
              <a:solidFill>
                <a:schemeClr val="lt1"/>
              </a:solidFill>
            </a:endParaRPr>
          </a:p>
        </p:txBody>
      </p:sp>
      <p:sp>
        <p:nvSpPr>
          <p:cNvPr id="219" name="Google Shape;219;p30"/>
          <p:cNvSpPr txBox="1"/>
          <p:nvPr/>
        </p:nvSpPr>
        <p:spPr>
          <a:xfrm>
            <a:off x="398325" y="197325"/>
            <a:ext cx="5757000" cy="1530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en-US" sz="3600" b="1">
                <a:solidFill>
                  <a:schemeClr val="accent1"/>
                </a:solidFill>
                <a:latin typeface="Trebuchet MS"/>
                <a:ea typeface="Trebuchet MS"/>
                <a:cs typeface="Trebuchet MS"/>
                <a:sym typeface="Trebuchet MS"/>
              </a:rPr>
              <a:t>Energy Demand: </a:t>
            </a:r>
            <a:endParaRPr sz="3600" b="1">
              <a:solidFill>
                <a:schemeClr val="accent1"/>
              </a:solidFill>
              <a:latin typeface="Trebuchet MS"/>
              <a:ea typeface="Trebuchet MS"/>
              <a:cs typeface="Trebuchet MS"/>
              <a:sym typeface="Trebuchet MS"/>
            </a:endParaRPr>
          </a:p>
          <a:p>
            <a:pPr marL="0" lvl="0" indent="0" algn="ctr" rtl="0">
              <a:lnSpc>
                <a:spcPct val="115000"/>
              </a:lnSpc>
              <a:spcBef>
                <a:spcPts val="1200"/>
              </a:spcBef>
              <a:spcAft>
                <a:spcPts val="1200"/>
              </a:spcAft>
              <a:buNone/>
            </a:pPr>
            <a:r>
              <a:rPr lang="en-US" sz="3600" b="1">
                <a:solidFill>
                  <a:schemeClr val="accent1"/>
                </a:solidFill>
                <a:latin typeface="Trebuchet MS"/>
                <a:ea typeface="Trebuchet MS"/>
                <a:cs typeface="Trebuchet MS"/>
                <a:sym typeface="Trebuchet MS"/>
              </a:rPr>
              <a:t>Holiday vs Non-Holiday</a:t>
            </a:r>
            <a:endParaRPr sz="3600" b="1">
              <a:solidFill>
                <a:schemeClr val="accent1"/>
              </a:solidFill>
            </a:endParaRPr>
          </a:p>
        </p:txBody>
      </p:sp>
      <p:pic>
        <p:nvPicPr>
          <p:cNvPr id="220" name="Google Shape;220;p30"/>
          <p:cNvPicPr preferRelativeResize="0"/>
          <p:nvPr/>
        </p:nvPicPr>
        <p:blipFill>
          <a:blip r:embed="rId3">
            <a:alphaModFix/>
          </a:blip>
          <a:stretch>
            <a:fillRect/>
          </a:stretch>
        </p:blipFill>
        <p:spPr>
          <a:xfrm>
            <a:off x="6244778" y="1138125"/>
            <a:ext cx="5616547" cy="40118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1"/>
          <p:cNvSpPr txBox="1">
            <a:spLocks noGrp="1"/>
          </p:cNvSpPr>
          <p:nvPr>
            <p:ph type="body" idx="1"/>
          </p:nvPr>
        </p:nvSpPr>
        <p:spPr>
          <a:xfrm>
            <a:off x="467604" y="1337199"/>
            <a:ext cx="4681200" cy="36174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5000"/>
              </a:lnSpc>
              <a:spcBef>
                <a:spcPts val="1200"/>
              </a:spcBef>
              <a:spcAft>
                <a:spcPts val="0"/>
              </a:spcAft>
              <a:buClr>
                <a:schemeClr val="dk1"/>
              </a:buClr>
              <a:buSzPts val="275"/>
              <a:buFont typeface="Arial"/>
              <a:buNone/>
            </a:pPr>
            <a:endParaRPr sz="7200" b="1">
              <a:solidFill>
                <a:schemeClr val="lt1"/>
              </a:solidFill>
            </a:endParaRPr>
          </a:p>
          <a:p>
            <a:pPr marL="457200" lvl="0" indent="-342900" algn="l" rtl="0">
              <a:lnSpc>
                <a:spcPct val="115000"/>
              </a:lnSpc>
              <a:spcBef>
                <a:spcPts val="1200"/>
              </a:spcBef>
              <a:spcAft>
                <a:spcPts val="0"/>
              </a:spcAft>
              <a:buClr>
                <a:schemeClr val="lt1"/>
              </a:buClr>
              <a:buSzPct val="100000"/>
              <a:buFont typeface="Trebuchet MS"/>
              <a:buChar char="●"/>
            </a:pPr>
            <a:r>
              <a:rPr lang="en-US" sz="7200">
                <a:solidFill>
                  <a:schemeClr val="lt1"/>
                </a:solidFill>
              </a:rPr>
              <a:t>The boxplot summarizes the spread of energy demand values.</a:t>
            </a:r>
            <a:br>
              <a:rPr lang="en-US" sz="7200">
                <a:solidFill>
                  <a:schemeClr val="lt1"/>
                </a:solidFill>
              </a:rPr>
            </a:br>
            <a:endParaRPr sz="7200">
              <a:solidFill>
                <a:schemeClr val="lt1"/>
              </a:solidFill>
            </a:endParaRPr>
          </a:p>
          <a:p>
            <a:pPr marL="457200" lvl="0" indent="-342900" algn="l" rtl="0">
              <a:lnSpc>
                <a:spcPct val="115000"/>
              </a:lnSpc>
              <a:spcBef>
                <a:spcPts val="0"/>
              </a:spcBef>
              <a:spcAft>
                <a:spcPts val="0"/>
              </a:spcAft>
              <a:buClr>
                <a:schemeClr val="lt1"/>
              </a:buClr>
              <a:buSzPct val="100000"/>
              <a:buFont typeface="Trebuchet MS"/>
              <a:buChar char="●"/>
            </a:pPr>
            <a:r>
              <a:rPr lang="en-US" sz="7200">
                <a:solidFill>
                  <a:schemeClr val="lt1"/>
                </a:solidFill>
              </a:rPr>
              <a:t>The median demand lies in the mid-range, showing typical daily consumption levels.</a:t>
            </a:r>
            <a:br>
              <a:rPr lang="en-US" sz="7200">
                <a:solidFill>
                  <a:schemeClr val="lt1"/>
                </a:solidFill>
              </a:rPr>
            </a:br>
            <a:endParaRPr sz="7200">
              <a:solidFill>
                <a:schemeClr val="lt1"/>
              </a:solidFill>
            </a:endParaRPr>
          </a:p>
          <a:p>
            <a:pPr marL="457200" lvl="0" indent="-342900" algn="l" rtl="0">
              <a:lnSpc>
                <a:spcPct val="115000"/>
              </a:lnSpc>
              <a:spcBef>
                <a:spcPts val="0"/>
              </a:spcBef>
              <a:spcAft>
                <a:spcPts val="0"/>
              </a:spcAft>
              <a:buClr>
                <a:schemeClr val="lt1"/>
              </a:buClr>
              <a:buSzPct val="100000"/>
              <a:buFont typeface="Trebuchet MS"/>
              <a:buChar char="●"/>
            </a:pPr>
            <a:r>
              <a:rPr lang="en-US" sz="7200">
                <a:solidFill>
                  <a:schemeClr val="lt1"/>
                </a:solidFill>
              </a:rPr>
              <a:t>The wide interquartile range (IQR) indicates significant variability in demand.</a:t>
            </a:r>
            <a:br>
              <a:rPr lang="en-US" sz="7200">
                <a:solidFill>
                  <a:schemeClr val="lt1"/>
                </a:solidFill>
              </a:rPr>
            </a:br>
            <a:endParaRPr sz="7200">
              <a:solidFill>
                <a:schemeClr val="lt1"/>
              </a:solidFill>
            </a:endParaRPr>
          </a:p>
          <a:p>
            <a:pPr marL="457200" lvl="0" indent="-342900" algn="l" rtl="0">
              <a:lnSpc>
                <a:spcPct val="115000"/>
              </a:lnSpc>
              <a:spcBef>
                <a:spcPts val="0"/>
              </a:spcBef>
              <a:spcAft>
                <a:spcPts val="0"/>
              </a:spcAft>
              <a:buClr>
                <a:schemeClr val="lt1"/>
              </a:buClr>
              <a:buSzPct val="100000"/>
              <a:buFont typeface="Trebuchet MS"/>
              <a:buChar char="●"/>
            </a:pPr>
            <a:r>
              <a:rPr lang="en-US" sz="7200">
                <a:solidFill>
                  <a:schemeClr val="lt1"/>
                </a:solidFill>
              </a:rPr>
              <a:t>Presence of outliers suggests occasional extreme demand spikes.</a:t>
            </a:r>
            <a:endParaRPr sz="7200">
              <a:solidFill>
                <a:schemeClr val="lt1"/>
              </a:solidFill>
            </a:endParaRPr>
          </a:p>
          <a:p>
            <a:pPr marL="342900" lvl="0" indent="-251459" algn="l" rtl="0">
              <a:spcBef>
                <a:spcPts val="1200"/>
              </a:spcBef>
              <a:spcAft>
                <a:spcPts val="0"/>
              </a:spcAft>
              <a:buSzPct val="79999"/>
              <a:buNone/>
            </a:pPr>
            <a:endParaRPr>
              <a:solidFill>
                <a:schemeClr val="lt1"/>
              </a:solidFill>
            </a:endParaRPr>
          </a:p>
        </p:txBody>
      </p:sp>
      <p:pic>
        <p:nvPicPr>
          <p:cNvPr id="226" name="Google Shape;226;p31"/>
          <p:cNvPicPr preferRelativeResize="0"/>
          <p:nvPr/>
        </p:nvPicPr>
        <p:blipFill>
          <a:blip r:embed="rId3">
            <a:alphaModFix/>
          </a:blip>
          <a:stretch>
            <a:fillRect/>
          </a:stretch>
        </p:blipFill>
        <p:spPr>
          <a:xfrm>
            <a:off x="5358513" y="1184775"/>
            <a:ext cx="6696075" cy="4152900"/>
          </a:xfrm>
          <a:prstGeom prst="rect">
            <a:avLst/>
          </a:prstGeom>
          <a:noFill/>
          <a:ln>
            <a:noFill/>
          </a:ln>
        </p:spPr>
      </p:pic>
      <p:sp>
        <p:nvSpPr>
          <p:cNvPr id="227" name="Google Shape;227;p31"/>
          <p:cNvSpPr txBox="1"/>
          <p:nvPr/>
        </p:nvSpPr>
        <p:spPr>
          <a:xfrm>
            <a:off x="291500" y="293450"/>
            <a:ext cx="5033400" cy="137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US" sz="3600" b="1">
                <a:solidFill>
                  <a:schemeClr val="accent1"/>
                </a:solidFill>
                <a:latin typeface="Trebuchet MS"/>
                <a:ea typeface="Trebuchet MS"/>
                <a:cs typeface="Trebuchet MS"/>
                <a:sym typeface="Trebuchet MS"/>
              </a:rPr>
              <a:t>Boxplot of Energy Demand</a:t>
            </a:r>
            <a:endParaRPr sz="3600" b="1">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2"/>
          <p:cNvSpPr txBox="1">
            <a:spLocks noGrp="1"/>
          </p:cNvSpPr>
          <p:nvPr>
            <p:ph type="body" idx="1"/>
          </p:nvPr>
        </p:nvSpPr>
        <p:spPr>
          <a:xfrm>
            <a:off x="289275" y="1489350"/>
            <a:ext cx="5352300" cy="36333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15000"/>
              </a:lnSpc>
              <a:spcBef>
                <a:spcPts val="1200"/>
              </a:spcBef>
              <a:spcAft>
                <a:spcPts val="0"/>
              </a:spcAft>
              <a:buClr>
                <a:schemeClr val="dk1"/>
              </a:buClr>
              <a:buSzPct val="61111"/>
              <a:buFont typeface="Arial"/>
              <a:buNone/>
            </a:pPr>
            <a:endParaRPr>
              <a:solidFill>
                <a:schemeClr val="lt1"/>
              </a:solidFill>
            </a:endParaRPr>
          </a:p>
          <a:p>
            <a:pPr marL="457200" lvl="0" indent="-325755" algn="l" rtl="0">
              <a:lnSpc>
                <a:spcPct val="115000"/>
              </a:lnSpc>
              <a:spcBef>
                <a:spcPts val="1200"/>
              </a:spcBef>
              <a:spcAft>
                <a:spcPts val="0"/>
              </a:spcAft>
              <a:buClr>
                <a:schemeClr val="lt1"/>
              </a:buClr>
              <a:buSzPct val="100000"/>
              <a:buFont typeface="Trebuchet MS"/>
              <a:buChar char="●"/>
            </a:pPr>
            <a:r>
              <a:rPr lang="en-US">
                <a:solidFill>
                  <a:schemeClr val="lt1"/>
                </a:solidFill>
              </a:rPr>
              <a:t>The heatmap shows the correlation between all features and energy demand.</a:t>
            </a:r>
            <a:br>
              <a:rPr lang="en-US">
                <a:solidFill>
                  <a:schemeClr val="lt1"/>
                </a:solidFill>
              </a:rPr>
            </a:br>
            <a:endParaRPr>
              <a:solidFill>
                <a:schemeClr val="lt1"/>
              </a:solidFill>
            </a:endParaRPr>
          </a:p>
          <a:p>
            <a:pPr marL="457200" lvl="0" indent="-325755" algn="l" rtl="0">
              <a:lnSpc>
                <a:spcPct val="115000"/>
              </a:lnSpc>
              <a:spcBef>
                <a:spcPts val="0"/>
              </a:spcBef>
              <a:spcAft>
                <a:spcPts val="0"/>
              </a:spcAft>
              <a:buClr>
                <a:schemeClr val="lt1"/>
              </a:buClr>
              <a:buSzPct val="100000"/>
              <a:buFont typeface="Arial"/>
              <a:buChar char="●"/>
            </a:pPr>
            <a:r>
              <a:rPr lang="en-US">
                <a:solidFill>
                  <a:schemeClr val="lt1"/>
                </a:solidFill>
              </a:rPr>
              <a:t>Hour has the strongest relationship with energy demand (moderate negative correlation in this dataset).</a:t>
            </a:r>
            <a:br>
              <a:rPr lang="en-US">
                <a:solidFill>
                  <a:schemeClr val="lt1"/>
                </a:solidFill>
              </a:rPr>
            </a:br>
            <a:endParaRPr>
              <a:solidFill>
                <a:schemeClr val="lt1"/>
              </a:solidFill>
            </a:endParaRPr>
          </a:p>
          <a:p>
            <a:pPr marL="457200" lvl="0" indent="-325755" algn="l" rtl="0">
              <a:lnSpc>
                <a:spcPct val="115000"/>
              </a:lnSpc>
              <a:spcBef>
                <a:spcPts val="0"/>
              </a:spcBef>
              <a:spcAft>
                <a:spcPts val="0"/>
              </a:spcAft>
              <a:buClr>
                <a:schemeClr val="lt1"/>
              </a:buClr>
              <a:buSzPct val="100000"/>
              <a:buFont typeface="Trebuchet MS"/>
              <a:buChar char="●"/>
            </a:pPr>
            <a:r>
              <a:rPr lang="en-US">
                <a:solidFill>
                  <a:schemeClr val="lt1"/>
                </a:solidFill>
              </a:rPr>
              <a:t>Most other features show weak linear correlation.</a:t>
            </a:r>
            <a:br>
              <a:rPr lang="en-US">
                <a:solidFill>
                  <a:schemeClr val="lt1"/>
                </a:solidFill>
              </a:rPr>
            </a:br>
            <a:endParaRPr>
              <a:solidFill>
                <a:schemeClr val="lt1"/>
              </a:solidFill>
            </a:endParaRPr>
          </a:p>
          <a:p>
            <a:pPr marL="457200" lvl="0" indent="-325755" algn="l" rtl="0">
              <a:lnSpc>
                <a:spcPct val="115000"/>
              </a:lnSpc>
              <a:spcBef>
                <a:spcPts val="0"/>
              </a:spcBef>
              <a:spcAft>
                <a:spcPts val="0"/>
              </a:spcAft>
              <a:buClr>
                <a:schemeClr val="lt1"/>
              </a:buClr>
              <a:buSzPct val="100000"/>
              <a:buFont typeface="Trebuchet MS"/>
              <a:buChar char="●"/>
            </a:pPr>
            <a:r>
              <a:rPr lang="en-US">
                <a:solidFill>
                  <a:schemeClr val="lt1"/>
                </a:solidFill>
              </a:rPr>
              <a:t>No strong multicollinearity is observed between input features.</a:t>
            </a:r>
            <a:endParaRPr>
              <a:solidFill>
                <a:schemeClr val="lt1"/>
              </a:solidFill>
            </a:endParaRPr>
          </a:p>
          <a:p>
            <a:pPr marL="342900" lvl="0" indent="-251459" algn="l" rtl="0">
              <a:spcBef>
                <a:spcPts val="1200"/>
              </a:spcBef>
              <a:spcAft>
                <a:spcPts val="0"/>
              </a:spcAft>
              <a:buSzPct val="79999"/>
              <a:buNone/>
            </a:pPr>
            <a:endParaRPr>
              <a:solidFill>
                <a:schemeClr val="lt1"/>
              </a:solidFill>
            </a:endParaRPr>
          </a:p>
        </p:txBody>
      </p:sp>
      <p:pic>
        <p:nvPicPr>
          <p:cNvPr id="233" name="Google Shape;233;p32"/>
          <p:cNvPicPr preferRelativeResize="0"/>
          <p:nvPr/>
        </p:nvPicPr>
        <p:blipFill rotWithShape="1">
          <a:blip r:embed="rId3">
            <a:alphaModFix/>
          </a:blip>
          <a:srcRect r="3938"/>
          <a:stretch/>
        </p:blipFill>
        <p:spPr>
          <a:xfrm>
            <a:off x="5725475" y="650150"/>
            <a:ext cx="6178476" cy="5431875"/>
          </a:xfrm>
          <a:prstGeom prst="rect">
            <a:avLst/>
          </a:prstGeom>
          <a:noFill/>
          <a:ln>
            <a:noFill/>
          </a:ln>
        </p:spPr>
      </p:pic>
      <p:sp>
        <p:nvSpPr>
          <p:cNvPr id="234" name="Google Shape;234;p32"/>
          <p:cNvSpPr txBox="1"/>
          <p:nvPr/>
        </p:nvSpPr>
        <p:spPr>
          <a:xfrm>
            <a:off x="289275" y="304075"/>
            <a:ext cx="4634700" cy="137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US" sz="3600" b="1">
                <a:solidFill>
                  <a:schemeClr val="accent1"/>
                </a:solidFill>
                <a:latin typeface="Trebuchet MS"/>
                <a:ea typeface="Trebuchet MS"/>
                <a:cs typeface="Trebuchet MS"/>
                <a:sym typeface="Trebuchet MS"/>
              </a:rPr>
              <a:t>Correlation Heatmap</a:t>
            </a:r>
            <a:endParaRPr sz="3600" b="1">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98C854-1CD1-555B-AB84-EE6716C1F792}"/>
              </a:ext>
            </a:extLst>
          </p:cNvPr>
          <p:cNvSpPr>
            <a:spLocks noGrp="1"/>
          </p:cNvSpPr>
          <p:nvPr>
            <p:ph type="title"/>
          </p:nvPr>
        </p:nvSpPr>
        <p:spPr>
          <a:xfrm>
            <a:off x="529850" y="476864"/>
            <a:ext cx="8596668" cy="1320800"/>
          </a:xfrm>
        </p:spPr>
        <p:txBody>
          <a:bodyPr>
            <a:normAutofit fontScale="90000"/>
          </a:bodyPr>
          <a:lstStyle/>
          <a:p>
            <a:r>
              <a:rPr lang="en-IN" b="1" dirty="0"/>
              <a:t>Time-Series Feature Engineering</a:t>
            </a:r>
            <a:br>
              <a:rPr lang="en-IN" dirty="0"/>
            </a:br>
            <a:br>
              <a:rPr lang="en-IN" dirty="0"/>
            </a:br>
            <a:br>
              <a:rPr lang="en-IN" dirty="0"/>
            </a:br>
            <a:br>
              <a:rPr lang="en-IN" dirty="0"/>
            </a:br>
            <a:r>
              <a:rPr lang="en-IN" dirty="0"/>
              <a:t>-</a:t>
            </a:r>
            <a:r>
              <a:rPr lang="en-US" sz="2700" dirty="0">
                <a:solidFill>
                  <a:schemeClr val="bg1"/>
                </a:solidFill>
              </a:rPr>
              <a:t>Created Lag_1 and Lag_24 features</a:t>
            </a:r>
            <a:br>
              <a:rPr lang="en-US" sz="2700" dirty="0">
                <a:solidFill>
                  <a:schemeClr val="bg1"/>
                </a:solidFill>
              </a:rPr>
            </a:br>
            <a:br>
              <a:rPr lang="en-US" sz="2700" dirty="0">
                <a:solidFill>
                  <a:schemeClr val="bg1"/>
                </a:solidFill>
              </a:rPr>
            </a:br>
            <a:r>
              <a:rPr lang="en-US" sz="2700" dirty="0">
                <a:solidFill>
                  <a:schemeClr val="bg1"/>
                </a:solidFill>
              </a:rPr>
              <a:t>-Added rolling mean &amp; rolling standard deviation</a:t>
            </a:r>
            <a:br>
              <a:rPr lang="en-US" sz="2700" dirty="0">
                <a:solidFill>
                  <a:schemeClr val="bg1"/>
                </a:solidFill>
              </a:rPr>
            </a:br>
            <a:br>
              <a:rPr lang="en-US" sz="2700" dirty="0">
                <a:solidFill>
                  <a:schemeClr val="bg1"/>
                </a:solidFill>
              </a:rPr>
            </a:br>
            <a:r>
              <a:rPr lang="en-US" sz="2700" dirty="0">
                <a:solidFill>
                  <a:schemeClr val="bg1"/>
                </a:solidFill>
              </a:rPr>
              <a:t>-Captured temporal dependency in energy demand</a:t>
            </a:r>
            <a:br>
              <a:rPr lang="en-US" sz="2700" dirty="0">
                <a:solidFill>
                  <a:schemeClr val="bg1"/>
                </a:solidFill>
              </a:rPr>
            </a:br>
            <a:br>
              <a:rPr lang="en-US" sz="2700" dirty="0">
                <a:solidFill>
                  <a:schemeClr val="bg1"/>
                </a:solidFill>
              </a:rPr>
            </a:br>
            <a:r>
              <a:rPr lang="en-US" sz="2700" dirty="0">
                <a:solidFill>
                  <a:schemeClr val="bg1"/>
                </a:solidFill>
              </a:rPr>
              <a:t>-Improved model accuracy compared to basic regression</a:t>
            </a:r>
            <a:br>
              <a:rPr lang="en-US" sz="1800" dirty="0"/>
            </a:br>
            <a:endParaRPr lang="en-IN" sz="1800" dirty="0"/>
          </a:p>
        </p:txBody>
      </p:sp>
    </p:spTree>
    <p:extLst>
      <p:ext uri="{BB962C8B-B14F-4D97-AF65-F5344CB8AC3E}">
        <p14:creationId xmlns:p14="http://schemas.microsoft.com/office/powerpoint/2010/main" val="3903400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EDFA7-25DD-1569-7495-CA3CC42DFA56}"/>
              </a:ext>
            </a:extLst>
          </p:cNvPr>
          <p:cNvSpPr>
            <a:spLocks noGrp="1"/>
          </p:cNvSpPr>
          <p:nvPr>
            <p:ph type="title"/>
          </p:nvPr>
        </p:nvSpPr>
        <p:spPr/>
        <p:txBody>
          <a:bodyPr/>
          <a:lstStyle/>
          <a:p>
            <a:r>
              <a:rPr lang="en-IN" dirty="0"/>
              <a:t>Model Comparison Table</a:t>
            </a:r>
          </a:p>
        </p:txBody>
      </p:sp>
      <p:sp>
        <p:nvSpPr>
          <p:cNvPr id="3" name="Text Placeholder 2">
            <a:extLst>
              <a:ext uri="{FF2B5EF4-FFF2-40B4-BE49-F238E27FC236}">
                <a16:creationId xmlns:a16="http://schemas.microsoft.com/office/drawing/2014/main" id="{3E82A013-C9ED-E1D0-9E08-FD1EAA655A16}"/>
              </a:ext>
            </a:extLst>
          </p:cNvPr>
          <p:cNvSpPr>
            <a:spLocks noGrp="1"/>
          </p:cNvSpPr>
          <p:nvPr>
            <p:ph type="body" idx="1"/>
          </p:nvPr>
        </p:nvSpPr>
        <p:spPr/>
        <p:txBody>
          <a:bodyPr/>
          <a:lstStyle/>
          <a:p>
            <a:r>
              <a:rPr lang="en-US" dirty="0"/>
              <a:t>The problem shows strong linear dependency once temporal features are added. Therefore, regularized linear models achieved excellent performance.</a:t>
            </a:r>
            <a:endParaRPr lang="en-IN" dirty="0"/>
          </a:p>
        </p:txBody>
      </p:sp>
      <p:graphicFrame>
        <p:nvGraphicFramePr>
          <p:cNvPr id="4" name="Table 3">
            <a:extLst>
              <a:ext uri="{FF2B5EF4-FFF2-40B4-BE49-F238E27FC236}">
                <a16:creationId xmlns:a16="http://schemas.microsoft.com/office/drawing/2014/main" id="{37E4E4F3-3560-0297-5959-14A7ADB4AF87}"/>
              </a:ext>
            </a:extLst>
          </p:cNvPr>
          <p:cNvGraphicFramePr>
            <a:graphicFrameLocks noGrp="1"/>
          </p:cNvGraphicFramePr>
          <p:nvPr>
            <p:extLst>
              <p:ext uri="{D42A27DB-BD31-4B8C-83A1-F6EECF244321}">
                <p14:modId xmlns:p14="http://schemas.microsoft.com/office/powerpoint/2010/main" val="2217534495"/>
              </p:ext>
            </p:extLst>
          </p:nvPr>
        </p:nvGraphicFramePr>
        <p:xfrm>
          <a:off x="677862" y="3491706"/>
          <a:ext cx="5191996" cy="1219200"/>
        </p:xfrm>
        <a:graphic>
          <a:graphicData uri="http://schemas.openxmlformats.org/drawingml/2006/table">
            <a:tbl>
              <a:tblPr>
                <a:tableStyleId>{284E427A-3D55-4303-BF80-6455036E1DE7}</a:tableStyleId>
              </a:tblPr>
              <a:tblGrid>
                <a:gridCol w="2595998">
                  <a:extLst>
                    <a:ext uri="{9D8B030D-6E8A-4147-A177-3AD203B41FA5}">
                      <a16:colId xmlns:a16="http://schemas.microsoft.com/office/drawing/2014/main" val="2048207851"/>
                    </a:ext>
                  </a:extLst>
                </a:gridCol>
                <a:gridCol w="2595998">
                  <a:extLst>
                    <a:ext uri="{9D8B030D-6E8A-4147-A177-3AD203B41FA5}">
                      <a16:colId xmlns:a16="http://schemas.microsoft.com/office/drawing/2014/main" val="370146146"/>
                    </a:ext>
                  </a:extLst>
                </a:gridCol>
              </a:tblGrid>
              <a:tr h="0">
                <a:tc>
                  <a:txBody>
                    <a:bodyPr/>
                    <a:lstStyle/>
                    <a:p>
                      <a:pPr>
                        <a:buNone/>
                      </a:pPr>
                      <a:r>
                        <a:rPr lang="en-IN" dirty="0"/>
                        <a:t>Model</a:t>
                      </a:r>
                    </a:p>
                  </a:txBody>
                  <a:tcPr anchor="ctr"/>
                </a:tc>
                <a:tc>
                  <a:txBody>
                    <a:bodyPr/>
                    <a:lstStyle/>
                    <a:p>
                      <a:pPr>
                        <a:buNone/>
                      </a:pPr>
                      <a:r>
                        <a:rPr lang="en-IN"/>
                        <a:t>R² Score</a:t>
                      </a:r>
                    </a:p>
                  </a:txBody>
                  <a:tcPr anchor="ctr"/>
                </a:tc>
                <a:extLst>
                  <a:ext uri="{0D108BD9-81ED-4DB2-BD59-A6C34878D82A}">
                    <a16:rowId xmlns:a16="http://schemas.microsoft.com/office/drawing/2014/main" val="144065294"/>
                  </a:ext>
                </a:extLst>
              </a:tr>
              <a:tr h="0">
                <a:tc>
                  <a:txBody>
                    <a:bodyPr/>
                    <a:lstStyle/>
                    <a:p>
                      <a:pPr>
                        <a:buNone/>
                      </a:pPr>
                      <a:r>
                        <a:rPr lang="en-IN"/>
                        <a:t>Linear</a:t>
                      </a:r>
                    </a:p>
                  </a:txBody>
                  <a:tcPr anchor="ctr"/>
                </a:tc>
                <a:tc>
                  <a:txBody>
                    <a:bodyPr/>
                    <a:lstStyle/>
                    <a:p>
                      <a:pPr>
                        <a:buNone/>
                      </a:pPr>
                      <a:r>
                        <a:rPr lang="en-IN" dirty="0"/>
                        <a:t>0.960212</a:t>
                      </a:r>
                    </a:p>
                  </a:txBody>
                  <a:tcPr anchor="ctr"/>
                </a:tc>
                <a:extLst>
                  <a:ext uri="{0D108BD9-81ED-4DB2-BD59-A6C34878D82A}">
                    <a16:rowId xmlns:a16="http://schemas.microsoft.com/office/drawing/2014/main" val="2916429672"/>
                  </a:ext>
                </a:extLst>
              </a:tr>
              <a:tr h="0">
                <a:tc>
                  <a:txBody>
                    <a:bodyPr/>
                    <a:lstStyle/>
                    <a:p>
                      <a:pPr>
                        <a:buNone/>
                      </a:pPr>
                      <a:r>
                        <a:rPr lang="en-IN"/>
                        <a:t>Ridge</a:t>
                      </a:r>
                    </a:p>
                  </a:txBody>
                  <a:tcPr anchor="ctr"/>
                </a:tc>
                <a:tc>
                  <a:txBody>
                    <a:bodyPr/>
                    <a:lstStyle/>
                    <a:p>
                      <a:pPr>
                        <a:buNone/>
                      </a:pPr>
                      <a:r>
                        <a:rPr lang="en-IN" dirty="0"/>
                        <a:t>0.960218</a:t>
                      </a:r>
                    </a:p>
                  </a:txBody>
                  <a:tcPr anchor="ctr"/>
                </a:tc>
                <a:extLst>
                  <a:ext uri="{0D108BD9-81ED-4DB2-BD59-A6C34878D82A}">
                    <a16:rowId xmlns:a16="http://schemas.microsoft.com/office/drawing/2014/main" val="3670783829"/>
                  </a:ext>
                </a:extLst>
              </a:tr>
              <a:tr h="0">
                <a:tc>
                  <a:txBody>
                    <a:bodyPr/>
                    <a:lstStyle/>
                    <a:p>
                      <a:pPr>
                        <a:buNone/>
                      </a:pPr>
                      <a:r>
                        <a:rPr lang="en-IN"/>
                        <a:t>Random Forest</a:t>
                      </a:r>
                    </a:p>
                  </a:txBody>
                  <a:tcPr anchor="ctr"/>
                </a:tc>
                <a:tc>
                  <a:txBody>
                    <a:bodyPr/>
                    <a:lstStyle/>
                    <a:p>
                      <a:pPr>
                        <a:buNone/>
                      </a:pPr>
                      <a:r>
                        <a:rPr lang="en-IN" dirty="0"/>
                        <a:t>0.960220</a:t>
                      </a:r>
                    </a:p>
                  </a:txBody>
                  <a:tcPr anchor="ctr"/>
                </a:tc>
                <a:extLst>
                  <a:ext uri="{0D108BD9-81ED-4DB2-BD59-A6C34878D82A}">
                    <a16:rowId xmlns:a16="http://schemas.microsoft.com/office/drawing/2014/main" val="812918968"/>
                  </a:ext>
                </a:extLst>
              </a:tr>
            </a:tbl>
          </a:graphicData>
        </a:graphic>
      </p:graphicFrame>
    </p:spTree>
    <p:extLst>
      <p:ext uri="{BB962C8B-B14F-4D97-AF65-F5344CB8AC3E}">
        <p14:creationId xmlns:p14="http://schemas.microsoft.com/office/powerpoint/2010/main" val="4023883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BD8A-6292-7EB8-9441-859CB68156EC}"/>
              </a:ext>
            </a:extLst>
          </p:cNvPr>
          <p:cNvSpPr>
            <a:spLocks noGrp="1"/>
          </p:cNvSpPr>
          <p:nvPr>
            <p:ph type="title"/>
          </p:nvPr>
        </p:nvSpPr>
        <p:spPr/>
        <p:txBody>
          <a:bodyPr/>
          <a:lstStyle/>
          <a:p>
            <a:r>
              <a:rPr lang="en-IN" dirty="0"/>
              <a:t>24-Hour Forecast Visualization</a:t>
            </a:r>
          </a:p>
        </p:txBody>
      </p:sp>
      <p:sp>
        <p:nvSpPr>
          <p:cNvPr id="4" name="Rectangle 1">
            <a:extLst>
              <a:ext uri="{FF2B5EF4-FFF2-40B4-BE49-F238E27FC236}">
                <a16:creationId xmlns:a16="http://schemas.microsoft.com/office/drawing/2014/main" id="{F487C576-91D1-3CEC-9F4A-07CAF54C45DD}"/>
              </a:ext>
            </a:extLst>
          </p:cNvPr>
          <p:cNvSpPr>
            <a:spLocks noGrp="1" noChangeArrowheads="1"/>
          </p:cNvSpPr>
          <p:nvPr>
            <p:ph type="body" idx="1"/>
          </p:nvPr>
        </p:nvSpPr>
        <p:spPr bwMode="auto">
          <a:xfrm>
            <a:off x="677334" y="2946814"/>
            <a:ext cx="527580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Demand peaks during specific hours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Model captures hourly trend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Useful for generation planning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pic>
        <p:nvPicPr>
          <p:cNvPr id="6" name="Picture 5">
            <a:extLst>
              <a:ext uri="{FF2B5EF4-FFF2-40B4-BE49-F238E27FC236}">
                <a16:creationId xmlns:a16="http://schemas.microsoft.com/office/drawing/2014/main" id="{9689CBD0-DDAB-0E87-965F-9573FA5AB0CB}"/>
              </a:ext>
            </a:extLst>
          </p:cNvPr>
          <p:cNvPicPr>
            <a:picLocks noChangeAspect="1"/>
          </p:cNvPicPr>
          <p:nvPr/>
        </p:nvPicPr>
        <p:blipFill>
          <a:blip r:embed="rId2"/>
          <a:stretch>
            <a:fillRect/>
          </a:stretch>
        </p:blipFill>
        <p:spPr>
          <a:xfrm>
            <a:off x="5953137" y="1744339"/>
            <a:ext cx="5677832" cy="3369322"/>
          </a:xfrm>
          <a:prstGeom prst="rect">
            <a:avLst/>
          </a:prstGeom>
        </p:spPr>
      </p:pic>
    </p:spTree>
    <p:extLst>
      <p:ext uri="{BB962C8B-B14F-4D97-AF65-F5344CB8AC3E}">
        <p14:creationId xmlns:p14="http://schemas.microsoft.com/office/powerpoint/2010/main" val="2602381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EC140-2EBC-9709-443D-1C2589C5B14D}"/>
              </a:ext>
            </a:extLst>
          </p:cNvPr>
          <p:cNvSpPr>
            <a:spLocks noGrp="1"/>
          </p:cNvSpPr>
          <p:nvPr>
            <p:ph type="title"/>
          </p:nvPr>
        </p:nvSpPr>
        <p:spPr>
          <a:xfrm>
            <a:off x="929148" y="1563328"/>
            <a:ext cx="8344854" cy="1209369"/>
          </a:xfrm>
        </p:spPr>
        <p:txBody>
          <a:bodyPr>
            <a:normAutofit/>
          </a:bodyPr>
          <a:lstStyle/>
          <a:p>
            <a:r>
              <a:rPr lang="en-IN" dirty="0"/>
              <a:t>Temperature Spike Simulation</a:t>
            </a:r>
          </a:p>
        </p:txBody>
      </p:sp>
      <p:sp>
        <p:nvSpPr>
          <p:cNvPr id="10" name="Rectangle 7">
            <a:extLst>
              <a:ext uri="{FF2B5EF4-FFF2-40B4-BE49-F238E27FC236}">
                <a16:creationId xmlns:a16="http://schemas.microsoft.com/office/drawing/2014/main" id="{E8B92459-C22D-D684-2E2F-3C1FE8B18820}"/>
              </a:ext>
            </a:extLst>
          </p:cNvPr>
          <p:cNvSpPr>
            <a:spLocks noGrp="1" noChangeArrowheads="1"/>
          </p:cNvSpPr>
          <p:nvPr>
            <p:ph type="body" idx="1"/>
          </p:nvPr>
        </p:nvSpPr>
        <p:spPr bwMode="auto">
          <a:xfrm>
            <a:off x="677335" y="3466085"/>
            <a:ext cx="8997608"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Demand rises significantly during temperature spike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Highlights risk during heatwaves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Supports proactive grid planning</a:t>
            </a:r>
          </a:p>
        </p:txBody>
      </p:sp>
    </p:spTree>
    <p:extLst>
      <p:ext uri="{BB962C8B-B14F-4D97-AF65-F5344CB8AC3E}">
        <p14:creationId xmlns:p14="http://schemas.microsoft.com/office/powerpoint/2010/main" val="122784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3"/>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b="1"/>
              <a:t>Project Summary &amp; Workflow</a:t>
            </a:r>
            <a:endParaRPr b="1"/>
          </a:p>
        </p:txBody>
      </p:sp>
      <p:sp>
        <p:nvSpPr>
          <p:cNvPr id="240" name="Google Shape;240;p33"/>
          <p:cNvSpPr txBox="1">
            <a:spLocks noGrp="1"/>
          </p:cNvSpPr>
          <p:nvPr>
            <p:ph type="body" idx="1"/>
          </p:nvPr>
        </p:nvSpPr>
        <p:spPr>
          <a:xfrm>
            <a:off x="677334" y="2160589"/>
            <a:ext cx="4184100" cy="3880800"/>
          </a:xfrm>
          <a:prstGeom prst="rect">
            <a:avLst/>
          </a:prstGeom>
        </p:spPr>
        <p:txBody>
          <a:bodyPr spcFirstLastPara="1" wrap="square" lIns="91425" tIns="45700" rIns="91425" bIns="45700" anchor="t" anchorCtr="0">
            <a:normAutofit fontScale="70000" lnSpcReduction="20000"/>
          </a:bodyPr>
          <a:lstStyle/>
          <a:p>
            <a:pPr marL="0" lvl="0" indent="0" algn="l" rtl="0">
              <a:lnSpc>
                <a:spcPct val="115000"/>
              </a:lnSpc>
              <a:spcBef>
                <a:spcPts val="1400"/>
              </a:spcBef>
              <a:spcAft>
                <a:spcPts val="0"/>
              </a:spcAft>
              <a:buClr>
                <a:schemeClr val="dk1"/>
              </a:buClr>
              <a:buSzPct val="57648"/>
              <a:buFont typeface="Arial"/>
              <a:buNone/>
            </a:pPr>
            <a:r>
              <a:rPr lang="en-US" sz="1908" b="1" dirty="0">
                <a:solidFill>
                  <a:schemeClr val="lt1"/>
                </a:solidFill>
              </a:rPr>
              <a:t>Project Summary</a:t>
            </a:r>
            <a:endParaRPr sz="1908" b="1" dirty="0">
              <a:solidFill>
                <a:schemeClr val="lt1"/>
              </a:solidFill>
            </a:endParaRPr>
          </a:p>
          <a:p>
            <a:pPr marL="457200" lvl="0" indent="-304525" algn="l" rtl="0">
              <a:lnSpc>
                <a:spcPct val="115000"/>
              </a:lnSpc>
              <a:spcBef>
                <a:spcPts val="1200"/>
              </a:spcBef>
              <a:spcAft>
                <a:spcPts val="0"/>
              </a:spcAft>
              <a:buClr>
                <a:schemeClr val="lt1"/>
              </a:buClr>
              <a:buSzPct val="100000"/>
              <a:buFont typeface="Trebuchet MS"/>
              <a:buChar char="●"/>
            </a:pPr>
            <a:r>
              <a:rPr lang="en-US" sz="1708" dirty="0">
                <a:solidFill>
                  <a:schemeClr val="lt1"/>
                </a:solidFill>
              </a:rPr>
              <a:t>Collected and preprocessed energy demand dataset</a:t>
            </a:r>
            <a:br>
              <a:rPr lang="en-US" sz="1708" dirty="0">
                <a:solidFill>
                  <a:schemeClr val="lt1"/>
                </a:solidFill>
              </a:rPr>
            </a:br>
            <a:endParaRPr sz="1708" dirty="0">
              <a:solidFill>
                <a:schemeClr val="lt1"/>
              </a:solidFill>
            </a:endParaRPr>
          </a:p>
          <a:p>
            <a:pPr marL="457200" lvl="0" indent="-304525" algn="l" rtl="0">
              <a:lnSpc>
                <a:spcPct val="115000"/>
              </a:lnSpc>
              <a:spcBef>
                <a:spcPts val="0"/>
              </a:spcBef>
              <a:spcAft>
                <a:spcPts val="0"/>
              </a:spcAft>
              <a:buClr>
                <a:schemeClr val="lt1"/>
              </a:buClr>
              <a:buSzPct val="100000"/>
              <a:buFont typeface="Trebuchet MS"/>
              <a:buChar char="●"/>
            </a:pPr>
            <a:r>
              <a:rPr lang="en-US" sz="1708" dirty="0">
                <a:solidFill>
                  <a:schemeClr val="lt1"/>
                </a:solidFill>
              </a:rPr>
              <a:t>Performed exploratory data analysis to identify patterns</a:t>
            </a:r>
            <a:br>
              <a:rPr lang="en-US" sz="1708" dirty="0">
                <a:solidFill>
                  <a:schemeClr val="lt1"/>
                </a:solidFill>
              </a:rPr>
            </a:br>
            <a:endParaRPr sz="1708" dirty="0">
              <a:solidFill>
                <a:schemeClr val="lt1"/>
              </a:solidFill>
            </a:endParaRPr>
          </a:p>
          <a:p>
            <a:pPr marL="457200" lvl="0" indent="-304525" algn="l" rtl="0">
              <a:lnSpc>
                <a:spcPct val="115000"/>
              </a:lnSpc>
              <a:spcBef>
                <a:spcPts val="0"/>
              </a:spcBef>
              <a:spcAft>
                <a:spcPts val="0"/>
              </a:spcAft>
              <a:buClr>
                <a:schemeClr val="lt1"/>
              </a:buClr>
              <a:buSzPct val="100000"/>
              <a:buFont typeface="Trebuchet MS"/>
              <a:buChar char="●"/>
            </a:pPr>
            <a:r>
              <a:rPr lang="en-US" sz="1708" dirty="0">
                <a:solidFill>
                  <a:schemeClr val="lt1"/>
                </a:solidFill>
              </a:rPr>
              <a:t>Applied feature scaling and dimensionality reduction</a:t>
            </a:r>
            <a:br>
              <a:rPr lang="en-US" sz="1708" dirty="0">
                <a:solidFill>
                  <a:schemeClr val="lt1"/>
                </a:solidFill>
              </a:rPr>
            </a:br>
            <a:endParaRPr sz="1708" dirty="0">
              <a:solidFill>
                <a:schemeClr val="lt1"/>
              </a:solidFill>
            </a:endParaRPr>
          </a:p>
          <a:p>
            <a:pPr marL="457200" lvl="0" indent="-304525" algn="l" rtl="0">
              <a:lnSpc>
                <a:spcPct val="115000"/>
              </a:lnSpc>
              <a:spcBef>
                <a:spcPts val="0"/>
              </a:spcBef>
              <a:spcAft>
                <a:spcPts val="0"/>
              </a:spcAft>
              <a:buClr>
                <a:schemeClr val="lt1"/>
              </a:buClr>
              <a:buSzPct val="100000"/>
              <a:buFont typeface="Trebuchet MS"/>
              <a:buChar char="●"/>
            </a:pPr>
            <a:r>
              <a:rPr lang="en-US" sz="1708" dirty="0">
                <a:solidFill>
                  <a:schemeClr val="lt1"/>
                </a:solidFill>
              </a:rPr>
              <a:t>Trained multiple machine learning models</a:t>
            </a:r>
            <a:br>
              <a:rPr lang="en-US" sz="1708" dirty="0">
                <a:solidFill>
                  <a:schemeClr val="lt1"/>
                </a:solidFill>
              </a:rPr>
            </a:br>
            <a:endParaRPr sz="1708" dirty="0">
              <a:solidFill>
                <a:schemeClr val="lt1"/>
              </a:solidFill>
            </a:endParaRPr>
          </a:p>
          <a:p>
            <a:pPr marL="457200" lvl="0" indent="-304525" algn="l" rtl="0">
              <a:lnSpc>
                <a:spcPct val="115000"/>
              </a:lnSpc>
              <a:spcBef>
                <a:spcPts val="0"/>
              </a:spcBef>
              <a:spcAft>
                <a:spcPts val="0"/>
              </a:spcAft>
              <a:buClr>
                <a:schemeClr val="lt1"/>
              </a:buClr>
              <a:buSzPct val="100000"/>
              <a:buFont typeface="Trebuchet MS"/>
              <a:buChar char="●"/>
            </a:pPr>
            <a:r>
              <a:rPr lang="en-US" sz="1708" dirty="0">
                <a:solidFill>
                  <a:schemeClr val="lt1"/>
                </a:solidFill>
              </a:rPr>
              <a:t>Compared model performance using cross-validation</a:t>
            </a:r>
            <a:br>
              <a:rPr lang="en-US" sz="1708" dirty="0">
                <a:solidFill>
                  <a:schemeClr val="lt1"/>
                </a:solidFill>
              </a:rPr>
            </a:br>
            <a:endParaRPr sz="1708" dirty="0">
              <a:solidFill>
                <a:schemeClr val="lt1"/>
              </a:solidFill>
            </a:endParaRPr>
          </a:p>
          <a:p>
            <a:pPr marL="457200" lvl="0" indent="-304525" algn="l" rtl="0">
              <a:lnSpc>
                <a:spcPct val="115000"/>
              </a:lnSpc>
              <a:spcBef>
                <a:spcPts val="0"/>
              </a:spcBef>
              <a:spcAft>
                <a:spcPts val="0"/>
              </a:spcAft>
              <a:buClr>
                <a:schemeClr val="lt1"/>
              </a:buClr>
              <a:buSzPct val="100000"/>
              <a:buFont typeface="Trebuchet MS"/>
              <a:buChar char="●"/>
            </a:pPr>
            <a:r>
              <a:rPr lang="en-US" sz="1708" dirty="0">
                <a:solidFill>
                  <a:schemeClr val="lt1"/>
                </a:solidFill>
              </a:rPr>
              <a:t>Selected best model based on evaluation metrics</a:t>
            </a:r>
            <a:br>
              <a:rPr lang="en-US" sz="1708" dirty="0">
                <a:solidFill>
                  <a:schemeClr val="lt1"/>
                </a:solidFill>
              </a:rPr>
            </a:br>
            <a:endParaRPr sz="1708" dirty="0">
              <a:solidFill>
                <a:schemeClr val="lt1"/>
              </a:solidFill>
            </a:endParaRPr>
          </a:p>
          <a:p>
            <a:pPr marL="457200" lvl="0" indent="-304525" algn="l" rtl="0">
              <a:lnSpc>
                <a:spcPct val="115000"/>
              </a:lnSpc>
              <a:spcBef>
                <a:spcPts val="0"/>
              </a:spcBef>
              <a:spcAft>
                <a:spcPts val="0"/>
              </a:spcAft>
              <a:buClr>
                <a:schemeClr val="lt1"/>
              </a:buClr>
              <a:buSzPct val="100000"/>
              <a:buFont typeface="Trebuchet MS"/>
              <a:buChar char="●"/>
            </a:pPr>
            <a:r>
              <a:rPr lang="en-US" sz="1708" dirty="0">
                <a:solidFill>
                  <a:schemeClr val="lt1"/>
                </a:solidFill>
              </a:rPr>
              <a:t>Built end-to-end machine learning pipeline</a:t>
            </a:r>
            <a:endParaRPr sz="1708" dirty="0">
              <a:solidFill>
                <a:schemeClr val="lt1"/>
              </a:solidFill>
            </a:endParaRPr>
          </a:p>
          <a:p>
            <a:pPr marL="0" lvl="0" indent="0" algn="l" rtl="0">
              <a:spcBef>
                <a:spcPts val="1200"/>
              </a:spcBef>
              <a:spcAft>
                <a:spcPts val="0"/>
              </a:spcAft>
              <a:buNone/>
            </a:pPr>
            <a:endParaRPr dirty="0"/>
          </a:p>
        </p:txBody>
      </p:sp>
      <p:sp>
        <p:nvSpPr>
          <p:cNvPr id="241" name="Google Shape;241;p33"/>
          <p:cNvSpPr txBox="1">
            <a:spLocks noGrp="1"/>
          </p:cNvSpPr>
          <p:nvPr>
            <p:ph type="body" idx="2"/>
          </p:nvPr>
        </p:nvSpPr>
        <p:spPr>
          <a:xfrm>
            <a:off x="5089970" y="2160589"/>
            <a:ext cx="41841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US" sz="2200" b="1">
                <a:solidFill>
                  <a:schemeClr val="lt1"/>
                </a:solidFill>
              </a:rPr>
              <a:t>Workflow</a:t>
            </a:r>
            <a:endParaRPr sz="2200" b="1">
              <a:solidFill>
                <a:schemeClr val="lt1"/>
              </a:solidFill>
            </a:endParaRPr>
          </a:p>
          <a:p>
            <a:pPr marL="0" lvl="0" indent="0" algn="l" rtl="0">
              <a:lnSpc>
                <a:spcPct val="115000"/>
              </a:lnSpc>
              <a:spcBef>
                <a:spcPts val="1200"/>
              </a:spcBef>
              <a:spcAft>
                <a:spcPts val="0"/>
              </a:spcAft>
              <a:buClr>
                <a:schemeClr val="dk1"/>
              </a:buClr>
              <a:buSzPts val="1100"/>
              <a:buFont typeface="Arial"/>
              <a:buNone/>
            </a:pPr>
            <a:endParaRPr sz="1700">
              <a:solidFill>
                <a:schemeClr val="lt1"/>
              </a:solidFill>
            </a:endParaRPr>
          </a:p>
          <a:p>
            <a:pPr marL="0" lvl="0" indent="0" algn="l" rtl="0">
              <a:spcBef>
                <a:spcPts val="1200"/>
              </a:spcBef>
              <a:spcAft>
                <a:spcPts val="0"/>
              </a:spcAft>
              <a:buNone/>
            </a:pPr>
            <a:endParaRPr/>
          </a:p>
        </p:txBody>
      </p:sp>
      <p:pic>
        <p:nvPicPr>
          <p:cNvPr id="242" name="Google Shape;242;p33"/>
          <p:cNvPicPr preferRelativeResize="0"/>
          <p:nvPr/>
        </p:nvPicPr>
        <p:blipFill>
          <a:blip r:embed="rId3">
            <a:alphaModFix/>
          </a:blip>
          <a:stretch>
            <a:fillRect/>
          </a:stretch>
        </p:blipFill>
        <p:spPr>
          <a:xfrm>
            <a:off x="5089975" y="2672150"/>
            <a:ext cx="4619251" cy="3079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b="1"/>
              <a:t>Key Findings &amp; Model Performance</a:t>
            </a:r>
            <a:endParaRPr b="1"/>
          </a:p>
        </p:txBody>
      </p:sp>
      <p:sp>
        <p:nvSpPr>
          <p:cNvPr id="248" name="Google Shape;248;p34"/>
          <p:cNvSpPr txBox="1">
            <a:spLocks noGrp="1"/>
          </p:cNvSpPr>
          <p:nvPr>
            <p:ph type="body" idx="1"/>
          </p:nvPr>
        </p:nvSpPr>
        <p:spPr>
          <a:xfrm>
            <a:off x="677327" y="2160600"/>
            <a:ext cx="31887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US" b="1">
                <a:solidFill>
                  <a:schemeClr val="lt1"/>
                </a:solidFill>
              </a:rPr>
              <a:t>Key Findings</a:t>
            </a:r>
            <a:endParaRPr b="1">
              <a:solidFill>
                <a:schemeClr val="lt1"/>
              </a:solidFill>
            </a:endParaRPr>
          </a:p>
          <a:p>
            <a:pPr marL="457200" lvl="0" indent="-311150" algn="l" rtl="0">
              <a:lnSpc>
                <a:spcPct val="115000"/>
              </a:lnSpc>
              <a:spcBef>
                <a:spcPts val="1200"/>
              </a:spcBef>
              <a:spcAft>
                <a:spcPts val="0"/>
              </a:spcAft>
              <a:buClr>
                <a:schemeClr val="lt1"/>
              </a:buClr>
              <a:buSzPts val="1300"/>
              <a:buFont typeface="Trebuchet MS"/>
              <a:buChar char="●"/>
            </a:pPr>
            <a:r>
              <a:rPr lang="en-US" sz="1300">
                <a:solidFill>
                  <a:schemeClr val="lt1"/>
                </a:solidFill>
              </a:rPr>
              <a:t>Energy demand strongly depends on temperature variations</a:t>
            </a:r>
            <a:br>
              <a:rPr lang="en-US" sz="1300">
                <a:solidFill>
                  <a:schemeClr val="lt1"/>
                </a:solidFill>
              </a:rPr>
            </a:br>
            <a:endParaRPr sz="1300">
              <a:solidFill>
                <a:schemeClr val="lt1"/>
              </a:solidFill>
            </a:endParaRPr>
          </a:p>
          <a:p>
            <a:pPr marL="457200" lvl="0" indent="-311150" algn="l" rtl="0">
              <a:lnSpc>
                <a:spcPct val="115000"/>
              </a:lnSpc>
              <a:spcBef>
                <a:spcPts val="0"/>
              </a:spcBef>
              <a:spcAft>
                <a:spcPts val="0"/>
              </a:spcAft>
              <a:buClr>
                <a:schemeClr val="lt1"/>
              </a:buClr>
              <a:buSzPts val="1300"/>
              <a:buFont typeface="Trebuchet MS"/>
              <a:buChar char="●"/>
            </a:pPr>
            <a:r>
              <a:rPr lang="en-US" sz="1300">
                <a:solidFill>
                  <a:schemeClr val="lt1"/>
                </a:solidFill>
              </a:rPr>
              <a:t>Time-based features (hour/day patterns) influence consumption</a:t>
            </a:r>
            <a:br>
              <a:rPr lang="en-US" sz="1300">
                <a:solidFill>
                  <a:schemeClr val="lt1"/>
                </a:solidFill>
              </a:rPr>
            </a:br>
            <a:endParaRPr sz="1300">
              <a:solidFill>
                <a:schemeClr val="lt1"/>
              </a:solidFill>
            </a:endParaRPr>
          </a:p>
          <a:p>
            <a:pPr marL="457200" lvl="0" indent="-311150" algn="l" rtl="0">
              <a:lnSpc>
                <a:spcPct val="115000"/>
              </a:lnSpc>
              <a:spcBef>
                <a:spcPts val="0"/>
              </a:spcBef>
              <a:spcAft>
                <a:spcPts val="0"/>
              </a:spcAft>
              <a:buClr>
                <a:schemeClr val="lt1"/>
              </a:buClr>
              <a:buSzPts val="1300"/>
              <a:buFont typeface="Trebuchet MS"/>
              <a:buChar char="●"/>
            </a:pPr>
            <a:r>
              <a:rPr lang="en-US" sz="1300">
                <a:solidFill>
                  <a:schemeClr val="lt1"/>
                </a:solidFill>
              </a:rPr>
              <a:t>Non-linear relationships exist within the dataset</a:t>
            </a:r>
            <a:br>
              <a:rPr lang="en-US" sz="1300">
                <a:solidFill>
                  <a:schemeClr val="lt1"/>
                </a:solidFill>
              </a:rPr>
            </a:br>
            <a:endParaRPr sz="1300">
              <a:solidFill>
                <a:schemeClr val="lt1"/>
              </a:solidFill>
            </a:endParaRPr>
          </a:p>
          <a:p>
            <a:pPr marL="457200" lvl="0" indent="-311150" algn="l" rtl="0">
              <a:lnSpc>
                <a:spcPct val="115000"/>
              </a:lnSpc>
              <a:spcBef>
                <a:spcPts val="0"/>
              </a:spcBef>
              <a:spcAft>
                <a:spcPts val="0"/>
              </a:spcAft>
              <a:buClr>
                <a:schemeClr val="lt1"/>
              </a:buClr>
              <a:buSzPts val="1300"/>
              <a:buFont typeface="Trebuchet MS"/>
              <a:buChar char="●"/>
            </a:pPr>
            <a:r>
              <a:rPr lang="en-US" sz="1300">
                <a:solidFill>
                  <a:schemeClr val="lt1"/>
                </a:solidFill>
              </a:rPr>
              <a:t>Feature preprocessing improves prediction accuracy</a:t>
            </a:r>
            <a:endParaRPr sz="1300">
              <a:solidFill>
                <a:schemeClr val="lt1"/>
              </a:solidFill>
            </a:endParaRPr>
          </a:p>
          <a:p>
            <a:pPr marL="0" lvl="0" indent="0" algn="l" rtl="0">
              <a:spcBef>
                <a:spcPts val="1200"/>
              </a:spcBef>
              <a:spcAft>
                <a:spcPts val="0"/>
              </a:spcAft>
              <a:buNone/>
            </a:pPr>
            <a:endParaRPr sz="2000"/>
          </a:p>
        </p:txBody>
      </p:sp>
      <p:sp>
        <p:nvSpPr>
          <p:cNvPr id="249" name="Google Shape;249;p34"/>
          <p:cNvSpPr txBox="1">
            <a:spLocks noGrp="1"/>
          </p:cNvSpPr>
          <p:nvPr>
            <p:ph type="body" idx="2"/>
          </p:nvPr>
        </p:nvSpPr>
        <p:spPr>
          <a:xfrm>
            <a:off x="4003950" y="2160600"/>
            <a:ext cx="32991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US" sz="1600" b="1">
                <a:solidFill>
                  <a:schemeClr val="lt1"/>
                </a:solidFill>
                <a:latin typeface="Arial"/>
                <a:ea typeface="Arial"/>
                <a:cs typeface="Arial"/>
                <a:sym typeface="Arial"/>
              </a:rPr>
              <a:t>Model Performance</a:t>
            </a:r>
            <a:endParaRPr sz="1600" b="1">
              <a:solidFill>
                <a:schemeClr val="lt1"/>
              </a:solidFill>
              <a:latin typeface="Arial"/>
              <a:ea typeface="Arial"/>
              <a:cs typeface="Arial"/>
              <a:sym typeface="Arial"/>
            </a:endParaRPr>
          </a:p>
          <a:p>
            <a:pPr marL="457200" lvl="0" indent="-311150" algn="l" rtl="0">
              <a:lnSpc>
                <a:spcPct val="115000"/>
              </a:lnSpc>
              <a:spcBef>
                <a:spcPts val="1200"/>
              </a:spcBef>
              <a:spcAft>
                <a:spcPts val="0"/>
              </a:spcAft>
              <a:buClr>
                <a:schemeClr val="lt1"/>
              </a:buClr>
              <a:buSzPts val="1300"/>
              <a:buFont typeface="Arial"/>
              <a:buChar char="●"/>
            </a:pPr>
            <a:r>
              <a:rPr lang="en-US" sz="1300">
                <a:solidFill>
                  <a:schemeClr val="lt1"/>
                </a:solidFill>
                <a:latin typeface="Arial"/>
                <a:ea typeface="Arial"/>
                <a:cs typeface="Arial"/>
                <a:sym typeface="Arial"/>
              </a:rPr>
              <a:t>Linear models provided baseline results</a:t>
            </a:r>
            <a:br>
              <a:rPr lang="en-US" sz="1300">
                <a:solidFill>
                  <a:schemeClr val="lt1"/>
                </a:solidFill>
                <a:latin typeface="Arial"/>
                <a:ea typeface="Arial"/>
                <a:cs typeface="Arial"/>
                <a:sym typeface="Arial"/>
              </a:rPr>
            </a:br>
            <a:endParaRPr sz="1300">
              <a:solidFill>
                <a:schemeClr val="lt1"/>
              </a:solidFill>
              <a:latin typeface="Arial"/>
              <a:ea typeface="Arial"/>
              <a:cs typeface="Arial"/>
              <a:sym typeface="Arial"/>
            </a:endParaRPr>
          </a:p>
          <a:p>
            <a:pPr marL="457200" lvl="0" indent="-311150" algn="l" rtl="0">
              <a:lnSpc>
                <a:spcPct val="115000"/>
              </a:lnSpc>
              <a:spcBef>
                <a:spcPts val="0"/>
              </a:spcBef>
              <a:spcAft>
                <a:spcPts val="0"/>
              </a:spcAft>
              <a:buClr>
                <a:schemeClr val="lt1"/>
              </a:buClr>
              <a:buSzPts val="1300"/>
              <a:buFont typeface="Arial"/>
              <a:buChar char="●"/>
            </a:pPr>
            <a:r>
              <a:rPr lang="en-US" sz="1300">
                <a:solidFill>
                  <a:schemeClr val="lt1"/>
                </a:solidFill>
                <a:latin typeface="Arial"/>
                <a:ea typeface="Arial"/>
                <a:cs typeface="Arial"/>
                <a:sym typeface="Arial"/>
              </a:rPr>
              <a:t>Ridge regression improved stability</a:t>
            </a:r>
            <a:br>
              <a:rPr lang="en-US" sz="1300">
                <a:solidFill>
                  <a:schemeClr val="lt1"/>
                </a:solidFill>
                <a:latin typeface="Arial"/>
                <a:ea typeface="Arial"/>
                <a:cs typeface="Arial"/>
                <a:sym typeface="Arial"/>
              </a:rPr>
            </a:br>
            <a:endParaRPr sz="1300">
              <a:solidFill>
                <a:schemeClr val="lt1"/>
              </a:solidFill>
              <a:latin typeface="Arial"/>
              <a:ea typeface="Arial"/>
              <a:cs typeface="Arial"/>
              <a:sym typeface="Arial"/>
            </a:endParaRPr>
          </a:p>
          <a:p>
            <a:pPr marL="457200" lvl="0" indent="-311150" algn="l" rtl="0">
              <a:lnSpc>
                <a:spcPct val="115000"/>
              </a:lnSpc>
              <a:spcBef>
                <a:spcPts val="0"/>
              </a:spcBef>
              <a:spcAft>
                <a:spcPts val="0"/>
              </a:spcAft>
              <a:buClr>
                <a:schemeClr val="lt1"/>
              </a:buClr>
              <a:buSzPts val="1300"/>
              <a:buFont typeface="Arial"/>
              <a:buChar char="●"/>
            </a:pPr>
            <a:r>
              <a:rPr lang="en-US" sz="1300">
                <a:solidFill>
                  <a:schemeClr val="lt1"/>
                </a:solidFill>
                <a:latin typeface="Arial"/>
                <a:ea typeface="Arial"/>
                <a:cs typeface="Arial"/>
                <a:sym typeface="Arial"/>
              </a:rPr>
              <a:t>Random Forest achieved highest accuracy</a:t>
            </a:r>
            <a:br>
              <a:rPr lang="en-US" sz="1300">
                <a:solidFill>
                  <a:schemeClr val="lt1"/>
                </a:solidFill>
                <a:latin typeface="Arial"/>
                <a:ea typeface="Arial"/>
                <a:cs typeface="Arial"/>
                <a:sym typeface="Arial"/>
              </a:rPr>
            </a:br>
            <a:endParaRPr sz="1300">
              <a:solidFill>
                <a:schemeClr val="lt1"/>
              </a:solidFill>
              <a:latin typeface="Arial"/>
              <a:ea typeface="Arial"/>
              <a:cs typeface="Arial"/>
              <a:sym typeface="Arial"/>
            </a:endParaRPr>
          </a:p>
          <a:p>
            <a:pPr marL="457200" lvl="0" indent="-311150" algn="l" rtl="0">
              <a:lnSpc>
                <a:spcPct val="115000"/>
              </a:lnSpc>
              <a:spcBef>
                <a:spcPts val="0"/>
              </a:spcBef>
              <a:spcAft>
                <a:spcPts val="0"/>
              </a:spcAft>
              <a:buClr>
                <a:schemeClr val="lt1"/>
              </a:buClr>
              <a:buSzPts val="1300"/>
              <a:buFont typeface="Arial"/>
              <a:buChar char="●"/>
            </a:pPr>
            <a:r>
              <a:rPr lang="en-US" sz="1300">
                <a:solidFill>
                  <a:schemeClr val="lt1"/>
                </a:solidFill>
                <a:latin typeface="Arial"/>
                <a:ea typeface="Arial"/>
                <a:cs typeface="Arial"/>
                <a:sym typeface="Arial"/>
              </a:rPr>
              <a:t>Cross-validation confirmed model reliability</a:t>
            </a:r>
            <a:endParaRPr sz="1300">
              <a:solidFill>
                <a:schemeClr val="lt1"/>
              </a:solidFill>
              <a:latin typeface="Arial"/>
              <a:ea typeface="Arial"/>
              <a:cs typeface="Arial"/>
              <a:sym typeface="Arial"/>
            </a:endParaRPr>
          </a:p>
          <a:p>
            <a:pPr marL="0" lvl="0" indent="0" algn="l" rtl="0">
              <a:spcBef>
                <a:spcPts val="1200"/>
              </a:spcBef>
              <a:spcAft>
                <a:spcPts val="0"/>
              </a:spcAft>
              <a:buNone/>
            </a:pPr>
            <a:endParaRPr/>
          </a:p>
        </p:txBody>
      </p:sp>
      <p:sp>
        <p:nvSpPr>
          <p:cNvPr id="250" name="Google Shape;250;p34"/>
          <p:cNvSpPr txBox="1">
            <a:spLocks noGrp="1"/>
          </p:cNvSpPr>
          <p:nvPr>
            <p:ph type="body" idx="2"/>
          </p:nvPr>
        </p:nvSpPr>
        <p:spPr>
          <a:xfrm>
            <a:off x="7440975" y="2160600"/>
            <a:ext cx="32991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US" sz="1600" b="1">
                <a:solidFill>
                  <a:schemeClr val="lt1"/>
                </a:solidFill>
                <a:latin typeface="Arial"/>
                <a:ea typeface="Arial"/>
                <a:cs typeface="Arial"/>
                <a:sym typeface="Arial"/>
              </a:rPr>
              <a:t>Key Learnings</a:t>
            </a:r>
            <a:endParaRPr sz="1600" b="1">
              <a:solidFill>
                <a:schemeClr val="lt1"/>
              </a:solidFill>
              <a:latin typeface="Arial"/>
              <a:ea typeface="Arial"/>
              <a:cs typeface="Arial"/>
              <a:sym typeface="Arial"/>
            </a:endParaRPr>
          </a:p>
          <a:p>
            <a:pPr marL="457200" lvl="0" indent="-304800" algn="l" rtl="0">
              <a:lnSpc>
                <a:spcPct val="115000"/>
              </a:lnSpc>
              <a:spcBef>
                <a:spcPts val="1200"/>
              </a:spcBef>
              <a:spcAft>
                <a:spcPts val="0"/>
              </a:spcAft>
              <a:buClr>
                <a:schemeClr val="lt1"/>
              </a:buClr>
              <a:buSzPts val="1200"/>
              <a:buFont typeface="Arial"/>
              <a:buChar char="●"/>
            </a:pPr>
            <a:r>
              <a:rPr lang="en-US" sz="1200">
                <a:solidFill>
                  <a:schemeClr val="lt1"/>
                </a:solidFill>
                <a:latin typeface="Arial"/>
                <a:ea typeface="Arial"/>
                <a:cs typeface="Arial"/>
                <a:sym typeface="Arial"/>
              </a:rPr>
              <a:t>Model selection significantly affects performance</a:t>
            </a:r>
            <a:br>
              <a:rPr lang="en-US" sz="1200">
                <a:solidFill>
                  <a:schemeClr val="lt1"/>
                </a:solidFill>
                <a:latin typeface="Arial"/>
                <a:ea typeface="Arial"/>
                <a:cs typeface="Arial"/>
                <a:sym typeface="Arial"/>
              </a:rPr>
            </a:br>
            <a:endParaRPr sz="1200">
              <a:solidFill>
                <a:schemeClr val="lt1"/>
              </a:solidFill>
              <a:latin typeface="Arial"/>
              <a:ea typeface="Arial"/>
              <a:cs typeface="Arial"/>
              <a:sym typeface="Arial"/>
            </a:endParaRPr>
          </a:p>
          <a:p>
            <a:pPr marL="457200" lvl="0" indent="-304800" algn="l" rtl="0">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Hyperparameter tuning improves results</a:t>
            </a:r>
            <a:br>
              <a:rPr lang="en-US" sz="1200">
                <a:solidFill>
                  <a:schemeClr val="lt1"/>
                </a:solidFill>
                <a:latin typeface="Arial"/>
                <a:ea typeface="Arial"/>
                <a:cs typeface="Arial"/>
                <a:sym typeface="Arial"/>
              </a:rPr>
            </a:br>
            <a:endParaRPr sz="1200">
              <a:solidFill>
                <a:schemeClr val="lt1"/>
              </a:solidFill>
              <a:latin typeface="Arial"/>
              <a:ea typeface="Arial"/>
              <a:cs typeface="Arial"/>
              <a:sym typeface="Arial"/>
            </a:endParaRPr>
          </a:p>
          <a:p>
            <a:pPr marL="457200" lvl="0" indent="-304800" algn="l" rtl="0">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Ensemble models handle complex patterns better</a:t>
            </a:r>
            <a:endParaRPr sz="1200">
              <a:solidFill>
                <a:schemeClr val="lt1"/>
              </a:solidFill>
              <a:latin typeface="Arial"/>
              <a:ea typeface="Arial"/>
              <a:cs typeface="Arial"/>
              <a:sym typeface="Arial"/>
            </a:endParaRPr>
          </a:p>
          <a:p>
            <a:pPr marL="0" lvl="0" indent="0" algn="l" rtl="0">
              <a:spcBef>
                <a:spcPts val="1200"/>
              </a:spcBef>
              <a:spcAft>
                <a:spcPts val="0"/>
              </a:spcAft>
              <a:buNone/>
            </a:pPr>
            <a:endParaRPr sz="1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b="1"/>
              <a:t>Deployment &amp; Final Conclusion</a:t>
            </a:r>
            <a:endParaRPr b="1"/>
          </a:p>
        </p:txBody>
      </p:sp>
      <p:sp>
        <p:nvSpPr>
          <p:cNvPr id="256" name="Google Shape;256;p35"/>
          <p:cNvSpPr txBox="1">
            <a:spLocks noGrp="1"/>
          </p:cNvSpPr>
          <p:nvPr>
            <p:ph type="body" idx="1"/>
          </p:nvPr>
        </p:nvSpPr>
        <p:spPr>
          <a:xfrm>
            <a:off x="677334" y="2160589"/>
            <a:ext cx="41841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US" sz="1700" b="1">
                <a:solidFill>
                  <a:schemeClr val="lt1"/>
                </a:solidFill>
              </a:rPr>
              <a:t>Deployment</a:t>
            </a:r>
            <a:endParaRPr sz="1700" b="1">
              <a:solidFill>
                <a:schemeClr val="lt1"/>
              </a:solidFill>
            </a:endParaRPr>
          </a:p>
          <a:p>
            <a:pPr marL="457200" lvl="0" indent="-323850" algn="l" rtl="0">
              <a:lnSpc>
                <a:spcPct val="115000"/>
              </a:lnSpc>
              <a:spcBef>
                <a:spcPts val="1200"/>
              </a:spcBef>
              <a:spcAft>
                <a:spcPts val="0"/>
              </a:spcAft>
              <a:buClr>
                <a:schemeClr val="lt1"/>
              </a:buClr>
              <a:buSzPts val="1500"/>
              <a:buFont typeface="Trebuchet MS"/>
              <a:buChar char="●"/>
            </a:pPr>
            <a:r>
              <a:rPr lang="en-US" sz="1500">
                <a:solidFill>
                  <a:schemeClr val="lt1"/>
                </a:solidFill>
              </a:rPr>
              <a:t>Model deployed using Streamlit application</a:t>
            </a:r>
            <a:br>
              <a:rPr lang="en-US" sz="1500">
                <a:solidFill>
                  <a:schemeClr val="lt1"/>
                </a:solidFill>
              </a:rPr>
            </a:br>
            <a:endParaRPr sz="1500">
              <a:solidFill>
                <a:schemeClr val="lt1"/>
              </a:solidFill>
            </a:endParaRPr>
          </a:p>
          <a:p>
            <a:pPr marL="457200" lvl="0" indent="-323850" algn="l" rtl="0">
              <a:lnSpc>
                <a:spcPct val="115000"/>
              </a:lnSpc>
              <a:spcBef>
                <a:spcPts val="0"/>
              </a:spcBef>
              <a:spcAft>
                <a:spcPts val="0"/>
              </a:spcAft>
              <a:buClr>
                <a:schemeClr val="lt1"/>
              </a:buClr>
              <a:buSzPts val="1500"/>
              <a:buFont typeface="Trebuchet MS"/>
              <a:buChar char="●"/>
            </a:pPr>
            <a:r>
              <a:rPr lang="en-US" sz="1500">
                <a:solidFill>
                  <a:schemeClr val="lt1"/>
                </a:solidFill>
              </a:rPr>
              <a:t>Interactive interface for user input</a:t>
            </a:r>
            <a:br>
              <a:rPr lang="en-US" sz="1500">
                <a:solidFill>
                  <a:schemeClr val="lt1"/>
                </a:solidFill>
              </a:rPr>
            </a:br>
            <a:endParaRPr sz="1500">
              <a:solidFill>
                <a:schemeClr val="lt1"/>
              </a:solidFill>
            </a:endParaRPr>
          </a:p>
          <a:p>
            <a:pPr marL="457200" lvl="0" indent="-323850" algn="l" rtl="0">
              <a:lnSpc>
                <a:spcPct val="115000"/>
              </a:lnSpc>
              <a:spcBef>
                <a:spcPts val="0"/>
              </a:spcBef>
              <a:spcAft>
                <a:spcPts val="0"/>
              </a:spcAft>
              <a:buClr>
                <a:schemeClr val="lt1"/>
              </a:buClr>
              <a:buSzPts val="1500"/>
              <a:buFont typeface="Trebuchet MS"/>
              <a:buChar char="●"/>
            </a:pPr>
            <a:r>
              <a:rPr lang="en-US" sz="1500">
                <a:solidFill>
                  <a:schemeClr val="lt1"/>
                </a:solidFill>
              </a:rPr>
              <a:t>Real-time energy demand prediction</a:t>
            </a:r>
            <a:br>
              <a:rPr lang="en-US" sz="1500">
                <a:solidFill>
                  <a:schemeClr val="lt1"/>
                </a:solidFill>
              </a:rPr>
            </a:br>
            <a:endParaRPr sz="1500">
              <a:solidFill>
                <a:schemeClr val="lt1"/>
              </a:solidFill>
            </a:endParaRPr>
          </a:p>
          <a:p>
            <a:pPr marL="457200" lvl="0" indent="-323850" algn="l" rtl="0">
              <a:lnSpc>
                <a:spcPct val="115000"/>
              </a:lnSpc>
              <a:spcBef>
                <a:spcPts val="0"/>
              </a:spcBef>
              <a:spcAft>
                <a:spcPts val="0"/>
              </a:spcAft>
              <a:buClr>
                <a:schemeClr val="lt1"/>
              </a:buClr>
              <a:buSzPts val="1500"/>
              <a:buFont typeface="Trebuchet MS"/>
              <a:buChar char="●"/>
            </a:pPr>
            <a:r>
              <a:rPr lang="en-US" sz="1500">
                <a:solidFill>
                  <a:schemeClr val="lt1"/>
                </a:solidFill>
              </a:rPr>
              <a:t>Model saved and loaded using joblib</a:t>
            </a:r>
            <a:endParaRPr sz="1500">
              <a:solidFill>
                <a:schemeClr val="lt1"/>
              </a:solidFill>
            </a:endParaRPr>
          </a:p>
          <a:p>
            <a:pPr marL="0" lvl="0" indent="0" algn="l" rtl="0">
              <a:spcBef>
                <a:spcPts val="1200"/>
              </a:spcBef>
              <a:spcAft>
                <a:spcPts val="0"/>
              </a:spcAft>
              <a:buNone/>
            </a:pPr>
            <a:endParaRPr sz="2200">
              <a:solidFill>
                <a:schemeClr val="lt1"/>
              </a:solidFill>
            </a:endParaRPr>
          </a:p>
        </p:txBody>
      </p:sp>
      <p:sp>
        <p:nvSpPr>
          <p:cNvPr id="257" name="Google Shape;257;p35"/>
          <p:cNvSpPr txBox="1">
            <a:spLocks noGrp="1"/>
          </p:cNvSpPr>
          <p:nvPr>
            <p:ph type="body" idx="2"/>
          </p:nvPr>
        </p:nvSpPr>
        <p:spPr>
          <a:xfrm>
            <a:off x="5089970" y="1592826"/>
            <a:ext cx="6782482" cy="4448563"/>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US" sz="1600" b="1" dirty="0">
                <a:solidFill>
                  <a:schemeClr val="lt1"/>
                </a:solidFill>
              </a:rPr>
              <a:t>Final Conclusion</a:t>
            </a:r>
            <a:endParaRPr sz="1600" b="1" dirty="0">
              <a:solidFill>
                <a:schemeClr val="lt1"/>
              </a:solidFill>
            </a:endParaRPr>
          </a:p>
          <a:p>
            <a:pPr marL="457200" lvl="0" indent="-317500" algn="l" rtl="0">
              <a:lnSpc>
                <a:spcPct val="115000"/>
              </a:lnSpc>
              <a:spcBef>
                <a:spcPts val="1200"/>
              </a:spcBef>
              <a:spcAft>
                <a:spcPts val="0"/>
              </a:spcAft>
              <a:buClr>
                <a:schemeClr val="lt1"/>
              </a:buClr>
              <a:buSzPts val="1400"/>
              <a:buFont typeface="Trebuchet MS"/>
              <a:buChar char="●"/>
            </a:pPr>
            <a:r>
              <a:rPr lang="en-US" sz="1400" dirty="0">
                <a:solidFill>
                  <a:schemeClr val="lt1"/>
                </a:solidFill>
              </a:rPr>
              <a:t>Successfully developed an energy demand prediction system</a:t>
            </a:r>
            <a:br>
              <a:rPr lang="en-US" sz="1400" dirty="0">
                <a:solidFill>
                  <a:schemeClr val="lt1"/>
                </a:solidFill>
              </a:rPr>
            </a:br>
            <a:endParaRPr sz="1400" dirty="0">
              <a:solidFill>
                <a:schemeClr val="lt1"/>
              </a:solidFill>
            </a:endParaRPr>
          </a:p>
          <a:p>
            <a:pPr marL="457200" lvl="0" indent="-317500" algn="l" rtl="0">
              <a:lnSpc>
                <a:spcPct val="115000"/>
              </a:lnSpc>
              <a:spcBef>
                <a:spcPts val="0"/>
              </a:spcBef>
              <a:spcAft>
                <a:spcPts val="0"/>
              </a:spcAft>
              <a:buClr>
                <a:schemeClr val="lt1"/>
              </a:buClr>
              <a:buSzPts val="1400"/>
              <a:buFont typeface="Trebuchet MS"/>
              <a:buChar char="●"/>
            </a:pPr>
            <a:r>
              <a:rPr lang="en-US" sz="1400" dirty="0">
                <a:solidFill>
                  <a:schemeClr val="lt1"/>
                </a:solidFill>
              </a:rPr>
              <a:t>Random Forest selected as final optimized model</a:t>
            </a:r>
            <a:br>
              <a:rPr lang="en-US" sz="1400" dirty="0">
                <a:solidFill>
                  <a:schemeClr val="lt1"/>
                </a:solidFill>
              </a:rPr>
            </a:br>
            <a:endParaRPr sz="1400" dirty="0">
              <a:solidFill>
                <a:schemeClr val="lt1"/>
              </a:solidFill>
            </a:endParaRPr>
          </a:p>
          <a:p>
            <a:pPr marL="457200" lvl="0" indent="-317500" algn="l" rtl="0">
              <a:lnSpc>
                <a:spcPct val="115000"/>
              </a:lnSpc>
              <a:spcBef>
                <a:spcPts val="0"/>
              </a:spcBef>
              <a:spcAft>
                <a:spcPts val="0"/>
              </a:spcAft>
              <a:buClr>
                <a:schemeClr val="lt1"/>
              </a:buClr>
              <a:buSzPts val="1400"/>
              <a:buFont typeface="Trebuchet MS"/>
              <a:buChar char="●"/>
            </a:pPr>
            <a:r>
              <a:rPr lang="en-US" sz="1400" dirty="0">
                <a:solidFill>
                  <a:schemeClr val="lt1"/>
                </a:solidFill>
              </a:rPr>
              <a:t>Temperature and time are key predictors</a:t>
            </a:r>
            <a:br>
              <a:rPr lang="en-US" sz="1400" dirty="0">
                <a:solidFill>
                  <a:schemeClr val="lt1"/>
                </a:solidFill>
              </a:rPr>
            </a:br>
            <a:endParaRPr sz="1400" dirty="0">
              <a:solidFill>
                <a:schemeClr val="lt1"/>
              </a:solidFill>
            </a:endParaRPr>
          </a:p>
          <a:p>
            <a:pPr marL="457200" lvl="0" indent="-317500" algn="l" rtl="0">
              <a:lnSpc>
                <a:spcPct val="115000"/>
              </a:lnSpc>
              <a:spcBef>
                <a:spcPts val="0"/>
              </a:spcBef>
              <a:spcAft>
                <a:spcPts val="0"/>
              </a:spcAft>
              <a:buClr>
                <a:schemeClr val="lt1"/>
              </a:buClr>
              <a:buSzPts val="1400"/>
              <a:buFont typeface="Trebuchet MS"/>
              <a:buChar char="●"/>
            </a:pPr>
            <a:r>
              <a:rPr lang="en-US" sz="1400" dirty="0">
                <a:solidFill>
                  <a:schemeClr val="lt1"/>
                </a:solidFill>
              </a:rPr>
              <a:t>Deployment makes model accessible and practical</a:t>
            </a:r>
            <a:br>
              <a:rPr lang="en-US" sz="1400" dirty="0">
                <a:solidFill>
                  <a:schemeClr val="lt1"/>
                </a:solidFill>
              </a:rPr>
            </a:br>
            <a:endParaRPr sz="1400" dirty="0">
              <a:solidFill>
                <a:schemeClr val="lt1"/>
              </a:solidFill>
            </a:endParaRPr>
          </a:p>
          <a:p>
            <a:pPr marL="457200" lvl="0" indent="-317500" algn="l" rtl="0">
              <a:lnSpc>
                <a:spcPct val="115000"/>
              </a:lnSpc>
              <a:spcBef>
                <a:spcPts val="0"/>
              </a:spcBef>
              <a:spcAft>
                <a:spcPts val="0"/>
              </a:spcAft>
              <a:buClr>
                <a:schemeClr val="lt1"/>
              </a:buClr>
              <a:buSzPts val="1400"/>
              <a:buFont typeface="Trebuchet MS"/>
              <a:buChar char="●"/>
            </a:pPr>
            <a:r>
              <a:rPr lang="en-US" sz="1400" dirty="0">
                <a:solidFill>
                  <a:schemeClr val="lt1"/>
                </a:solidFill>
              </a:rPr>
              <a:t>System supports data-driven energy management decisions</a:t>
            </a:r>
          </a:p>
          <a:p>
            <a:pPr marL="457200" lvl="0" indent="-317500" algn="l" rtl="0">
              <a:lnSpc>
                <a:spcPct val="115000"/>
              </a:lnSpc>
              <a:spcBef>
                <a:spcPts val="0"/>
              </a:spcBef>
              <a:spcAft>
                <a:spcPts val="0"/>
              </a:spcAft>
              <a:buClr>
                <a:schemeClr val="lt1"/>
              </a:buClr>
              <a:buSzPts val="1400"/>
              <a:buFont typeface="Trebuchet MS"/>
              <a:buChar char="●"/>
            </a:pPr>
            <a:endParaRPr lang="en-US" sz="1400" dirty="0">
              <a:solidFill>
                <a:schemeClr val="lt1"/>
              </a:solidFill>
            </a:endParaRPr>
          </a:p>
          <a:p>
            <a:pPr lvl="0" indent="-317500">
              <a:lnSpc>
                <a:spcPct val="115000"/>
              </a:lnSpc>
              <a:spcBef>
                <a:spcPts val="0"/>
              </a:spcBef>
              <a:buClr>
                <a:schemeClr val="lt1"/>
              </a:buClr>
              <a:buSzPts val="1400"/>
              <a:buFont typeface="Trebuchet MS"/>
              <a:buChar char="●"/>
            </a:pPr>
            <a:r>
              <a:rPr lang="en-IN" sz="1400" dirty="0"/>
              <a:t>Cross-validation ensured model generalization</a:t>
            </a:r>
          </a:p>
          <a:p>
            <a:pPr lvl="0" indent="-317500">
              <a:lnSpc>
                <a:spcPct val="115000"/>
              </a:lnSpc>
              <a:spcBef>
                <a:spcPts val="0"/>
              </a:spcBef>
              <a:buClr>
                <a:schemeClr val="lt1"/>
              </a:buClr>
              <a:buSzPts val="1400"/>
              <a:buFont typeface="Trebuchet MS"/>
              <a:buChar char="●"/>
            </a:pPr>
            <a:endParaRPr lang="en-IN" sz="1400" dirty="0">
              <a:solidFill>
                <a:schemeClr val="lt1"/>
              </a:solidFill>
            </a:endParaRPr>
          </a:p>
          <a:p>
            <a:pPr lvl="0" indent="-317500">
              <a:lnSpc>
                <a:spcPct val="115000"/>
              </a:lnSpc>
              <a:spcBef>
                <a:spcPts val="0"/>
              </a:spcBef>
              <a:buClr>
                <a:schemeClr val="lt1"/>
              </a:buClr>
              <a:buSzPts val="1400"/>
              <a:buFont typeface="Trebuchet MS"/>
              <a:buChar char="●"/>
            </a:pPr>
            <a:r>
              <a:rPr lang="en-IN" sz="1400" dirty="0"/>
              <a:t>Model reduces blackout risk</a:t>
            </a:r>
          </a:p>
          <a:p>
            <a:pPr lvl="0" indent="-317500">
              <a:lnSpc>
                <a:spcPct val="115000"/>
              </a:lnSpc>
              <a:spcBef>
                <a:spcPts val="0"/>
              </a:spcBef>
              <a:buClr>
                <a:schemeClr val="lt1"/>
              </a:buClr>
              <a:buSzPts val="1400"/>
              <a:buFont typeface="Trebuchet MS"/>
              <a:buChar char="●"/>
            </a:pPr>
            <a:endParaRPr lang="en-IN" sz="1400" dirty="0">
              <a:solidFill>
                <a:schemeClr val="lt1"/>
              </a:solidFill>
            </a:endParaRPr>
          </a:p>
          <a:p>
            <a:pPr lvl="0" indent="-317500">
              <a:lnSpc>
                <a:spcPct val="115000"/>
              </a:lnSpc>
              <a:spcBef>
                <a:spcPts val="0"/>
              </a:spcBef>
              <a:buClr>
                <a:schemeClr val="lt1"/>
              </a:buClr>
              <a:buSzPts val="1400"/>
              <a:buFont typeface="Trebuchet MS"/>
              <a:buChar char="●"/>
            </a:pPr>
            <a:r>
              <a:rPr lang="en-IN" sz="1400" dirty="0"/>
              <a:t>Supports sustainable grid management</a:t>
            </a:r>
            <a:endParaRPr lang="en-US" sz="1400" dirty="0">
              <a:solidFill>
                <a:schemeClr val="lt1"/>
              </a:solidFill>
            </a:endParaRPr>
          </a:p>
          <a:p>
            <a:pPr marL="457200" lvl="0" indent="-317500" algn="l" rtl="0">
              <a:lnSpc>
                <a:spcPct val="115000"/>
              </a:lnSpc>
              <a:spcBef>
                <a:spcPts val="0"/>
              </a:spcBef>
              <a:spcAft>
                <a:spcPts val="0"/>
              </a:spcAft>
              <a:buClr>
                <a:schemeClr val="lt1"/>
              </a:buClr>
              <a:buSzPts val="1400"/>
              <a:buFont typeface="Trebuchet MS"/>
              <a:buChar char="●"/>
            </a:pPr>
            <a:endParaRPr sz="1400" dirty="0">
              <a:solidFill>
                <a:schemeClr val="lt1"/>
              </a:solidFill>
            </a:endParaRPr>
          </a:p>
          <a:p>
            <a:pPr marL="0" lvl="0" indent="0" algn="l" rtl="0">
              <a:spcBef>
                <a:spcPts val="1200"/>
              </a:spcBef>
              <a:spcAft>
                <a:spcPts val="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p:nvPr>
        </p:nvSpPr>
        <p:spPr>
          <a:xfrm>
            <a:off x="4247534" y="288955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sz="4600"/>
              <a:t>THANK YOU</a:t>
            </a:r>
            <a:endParaRPr sz="4600"/>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1464</Words>
  <Application>Microsoft Office PowerPoint</Application>
  <PresentationFormat>Widescreen</PresentationFormat>
  <Paragraphs>139</Paragraphs>
  <Slides>23</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Noto Sans Symbols</vt:lpstr>
      <vt:lpstr>Trebuchet MS</vt:lpstr>
      <vt:lpstr>Facet</vt:lpstr>
      <vt:lpstr>ENERGY DEMAND PREDICTION USING MACHINE LEARNING                                                                           </vt:lpstr>
      <vt:lpstr>Team Members</vt:lpstr>
      <vt:lpstr>INTRODUCTION</vt:lpstr>
      <vt:lpstr>Problem Statement</vt:lpstr>
      <vt:lpstr>Dataset Overview</vt:lpstr>
      <vt:lpstr>Data Cleaning</vt:lpstr>
      <vt:lpstr>Exploratory Data Analysis (Overview)</vt:lpstr>
      <vt:lpstr>Feature Engineering</vt:lpstr>
      <vt:lpstr>Model Building</vt:lpstr>
      <vt:lpstr>PowerPoint Presentation</vt:lpstr>
      <vt:lpstr>PowerPoint Presentation</vt:lpstr>
      <vt:lpstr>PowerPoint Presentation</vt:lpstr>
      <vt:lpstr>PowerPoint Presentation</vt:lpstr>
      <vt:lpstr>PowerPoint Presentation</vt:lpstr>
      <vt:lpstr>PowerPoint Presentation</vt:lpstr>
      <vt:lpstr>Time-Series Feature Engineering    -Created Lag_1 and Lag_24 features  -Added rolling mean &amp; rolling standard deviation  -Captured temporal dependency in energy demand  -Improved model accuracy compared to basic regression </vt:lpstr>
      <vt:lpstr>Model Comparison Table</vt:lpstr>
      <vt:lpstr>24-Hour Forecast Visualization</vt:lpstr>
      <vt:lpstr>Temperature Spike Simulation</vt:lpstr>
      <vt:lpstr>Project Summary &amp; Workflow</vt:lpstr>
      <vt:lpstr>Key Findings &amp; Model Performance</vt:lpstr>
      <vt:lpstr>Deployment &amp; Final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tia moncy</dc:creator>
  <cp:lastModifiedBy>Moncy Nedumkunnel</cp:lastModifiedBy>
  <cp:revision>1</cp:revision>
  <dcterms:modified xsi:type="dcterms:W3CDTF">2026-02-15T18:06:14Z</dcterms:modified>
</cp:coreProperties>
</file>